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68" r:id="rId3"/>
    <p:sldId id="269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  <p:embeddedFontLst>
    <p:embeddedFont>
      <p:font typeface="Lato" panose="020F0502020204030203" pitchFamily="34" charset="0"/>
      <p:regular r:id="rId17"/>
      <p:bold r:id="rId18"/>
      <p:italic r:id="rId19"/>
      <p:boldItalic r:id="rId20"/>
    </p:embeddedFont>
    <p:embeddedFont>
      <p:font typeface="Poppins" panose="00000500000000000000" pitchFamily="2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9F7"/>
    <a:srgbClr val="D6D6D6"/>
    <a:srgbClr val="1A1A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000303F-E8A9-87A9-325A-4168E674BDB2}" v="149" dt="2025-11-25T22:29:22.276"/>
    <p1510:client id="{EE4588BD-1B14-400F-EE06-44BD92F6691E}" v="2" dt="2025-11-25T22:35:08.961"/>
    <p1510:client id="{FE00E2BA-B208-9ADA-0300-6A42CD83B48E}" v="254" dt="2025-11-25T23:01:50.905"/>
  </p1510:revLst>
</p1510:revInfo>
</file>

<file path=ppt/tableStyles.xml><?xml version="1.0" encoding="utf-8"?>
<a:tblStyleLst xmlns:a="http://schemas.openxmlformats.org/drawingml/2006/main" def="{6A8C16FE-80AD-4E44-9C75-D836338930CB}">
  <a:tblStyle styleId="{6A8C16FE-80AD-4E44-9C75-D836338930CB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43" y="4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>
          <a:extLst>
            <a:ext uri="{FF2B5EF4-FFF2-40B4-BE49-F238E27FC236}">
              <a16:creationId xmlns:a16="http://schemas.microsoft.com/office/drawing/2014/main" id="{11EE0CAA-A3D6-8811-97C3-63A7FB330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2:notes">
            <a:extLst>
              <a:ext uri="{FF2B5EF4-FFF2-40B4-BE49-F238E27FC236}">
                <a16:creationId xmlns:a16="http://schemas.microsoft.com/office/drawing/2014/main" id="{3D15FAEB-7F13-3AEA-C8B1-583C7EFBDC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12:notes">
            <a:extLst>
              <a:ext uri="{FF2B5EF4-FFF2-40B4-BE49-F238E27FC236}">
                <a16:creationId xmlns:a16="http://schemas.microsoft.com/office/drawing/2014/main" id="{DB684DB6-161D-B79C-1763-67E75EFA7F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552128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EC54AE9-0502-CE40-0254-D4C860E08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0CB9E165-4524-F404-264B-AD3C83851C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367FF5D1-3BA5-589C-2080-DC6F8F5D24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676860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3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3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295275" y="2390775"/>
            <a:ext cx="11601450" cy="807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250" b="1" i="0" u="none" strike="noStrike" cap="none" dirty="0">
                <a:solidFill>
                  <a:srgbClr val="00B9F7"/>
                </a:solidFill>
                <a:latin typeface="Poppins"/>
                <a:ea typeface="Poppins"/>
                <a:cs typeface="Poppins"/>
                <a:sym typeface="Poppins"/>
              </a:rPr>
              <a:t>S.I.V.I.A.</a:t>
            </a:r>
            <a:endParaRPr lang="pt-BR" dirty="0">
              <a:solidFill>
                <a:srgbClr val="00B9F7"/>
              </a:solidFill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3495675" y="3590925"/>
            <a:ext cx="5200650" cy="1246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Sistema </a:t>
            </a:r>
            <a:r>
              <a:rPr lang="en-US" sz="1800" b="0" i="0" u="none" strike="noStrike" cap="none" err="1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Integrado</a:t>
            </a:r>
            <a:r>
              <a:rPr lang="en-US" sz="1800" b="0" i="0" u="none" strike="noStrike" cap="non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 de </a:t>
            </a:r>
            <a:r>
              <a:rPr lang="en-US" sz="1800" b="0" i="0" u="none" strike="noStrike" cap="none" err="1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Vigilância</a:t>
            </a:r>
            <a:r>
              <a:rPr lang="en-US" sz="1800" b="0" i="0" u="none" strike="noStrike" cap="non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1800" b="0" i="0" u="none" strike="noStrike" cap="none" err="1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Inteligência</a:t>
            </a:r>
            <a:r>
              <a:rPr lang="en-US" sz="1800" b="0" i="0" u="none" strike="noStrike" cap="non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 e </a:t>
            </a:r>
            <a:r>
              <a:rPr lang="en-US" sz="1800" b="0" i="0" u="none" strike="noStrike" cap="none" err="1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Alerta</a:t>
            </a:r>
            <a:br>
              <a:rPr lang="en-US" sz="1800" b="0" i="0" u="none" strike="noStrike" cap="none">
                <a:latin typeface="Calibri"/>
                <a:ea typeface="Calibri"/>
                <a:cs typeface="Calibri"/>
              </a:rPr>
            </a:br>
            <a:r>
              <a:rPr lang="en-US" sz="1800" b="0" i="0" u="none" strike="noStrike" cap="non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endParaRPr lang="en-US" sz="1800">
              <a:solidFill>
                <a:srgbClr val="FFFFFF"/>
              </a:solidFill>
              <a:latin typeface="Lato"/>
              <a:ea typeface="Lato"/>
              <a:cs typeface="La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Shape 228">
          <a:extLst>
            <a:ext uri="{FF2B5EF4-FFF2-40B4-BE49-F238E27FC236}">
              <a16:creationId xmlns:a16="http://schemas.microsoft.com/office/drawing/2014/main" id="{78013AF1-CE53-9F8E-A345-0DB0BFBC4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24" descr="image.png">
            <a:extLst>
              <a:ext uri="{FF2B5EF4-FFF2-40B4-BE49-F238E27FC236}">
                <a16:creationId xmlns:a16="http://schemas.microsoft.com/office/drawing/2014/main" id="{C82D444F-5F94-2A80-4D7D-0F7E55B7949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4">
            <a:extLst>
              <a:ext uri="{FF2B5EF4-FFF2-40B4-BE49-F238E27FC236}">
                <a16:creationId xmlns:a16="http://schemas.microsoft.com/office/drawing/2014/main" id="{0BAE120B-ACC6-17BA-4180-47E30E5CF3DC}"/>
              </a:ext>
            </a:extLst>
          </p:cNvPr>
          <p:cNvSpPr txBox="1"/>
          <p:nvPr/>
        </p:nvSpPr>
        <p:spPr>
          <a:xfrm>
            <a:off x="295275" y="2262187"/>
            <a:ext cx="11601450" cy="692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4500" b="1" err="1">
                <a:solidFill>
                  <a:srgbClr val="FFFFFF"/>
                </a:solidFill>
                <a:latin typeface="Poppins"/>
                <a:cs typeface="Poppins"/>
                <a:sym typeface="Poppins"/>
              </a:rPr>
              <a:t>Membros</a:t>
            </a:r>
            <a:r>
              <a:rPr lang="en-US" sz="4500" b="1">
                <a:solidFill>
                  <a:srgbClr val="FFFFFF"/>
                </a:solidFill>
                <a:latin typeface="Poppins"/>
                <a:cs typeface="Poppins"/>
                <a:sym typeface="Poppins"/>
              </a:rPr>
              <a:t> do </a:t>
            </a:r>
            <a:r>
              <a:rPr lang="en-US" sz="4500" b="1" err="1">
                <a:solidFill>
                  <a:srgbClr val="FFFFFF"/>
                </a:solidFill>
                <a:latin typeface="Poppins"/>
                <a:cs typeface="Poppins"/>
                <a:sym typeface="Poppins"/>
              </a:rPr>
              <a:t>grupo</a:t>
            </a:r>
            <a:r>
              <a:rPr lang="en-US" sz="4500" b="1">
                <a:solidFill>
                  <a:srgbClr val="FFFFFF"/>
                </a:solidFill>
                <a:latin typeface="Poppins"/>
                <a:cs typeface="Poppins"/>
                <a:sym typeface="Poppins"/>
              </a:rPr>
              <a:t>:</a:t>
            </a:r>
            <a:endParaRPr lang="en-US" sz="4500" b="1">
              <a:solidFill>
                <a:srgbClr val="FFFFFF"/>
              </a:solidFill>
              <a:latin typeface="Poppins"/>
              <a:cs typeface="Poppins"/>
            </a:endParaRPr>
          </a:p>
        </p:txBody>
      </p:sp>
      <p:sp>
        <p:nvSpPr>
          <p:cNvPr id="231" name="Google Shape;231;p24">
            <a:extLst>
              <a:ext uri="{FF2B5EF4-FFF2-40B4-BE49-F238E27FC236}">
                <a16:creationId xmlns:a16="http://schemas.microsoft.com/office/drawing/2014/main" id="{56500E5D-AC7D-26EF-99DF-3E86050362AC}"/>
              </a:ext>
            </a:extLst>
          </p:cNvPr>
          <p:cNvSpPr txBox="1"/>
          <p:nvPr/>
        </p:nvSpPr>
        <p:spPr>
          <a:xfrm>
            <a:off x="571500" y="3328987"/>
            <a:ext cx="11049000" cy="1051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37500"/>
              </a:lnSpc>
            </a:pPr>
            <a:r>
              <a:rPr lang="en-US" sz="1650">
                <a:solidFill>
                  <a:srgbClr val="E0E0E0"/>
                </a:solidFill>
                <a:latin typeface="Lato"/>
                <a:ea typeface="Lato"/>
                <a:cs typeface="Lato"/>
              </a:rPr>
              <a:t>Gustavo Henrique Marcel da Silva</a:t>
            </a:r>
          </a:p>
          <a:p>
            <a:pPr algn="ctr">
              <a:lnSpc>
                <a:spcPct val="137500"/>
              </a:lnSpc>
            </a:pPr>
            <a:r>
              <a:rPr lang="en-US" sz="1650">
                <a:solidFill>
                  <a:schemeClr val="bg1"/>
                </a:solidFill>
                <a:latin typeface="Lato"/>
                <a:ea typeface="Lato"/>
              </a:rPr>
              <a:t>Lucas Augusto Santiago da Cruz</a:t>
            </a:r>
            <a:br>
              <a:rPr lang="en-US" sz="1650">
                <a:solidFill>
                  <a:srgbClr val="E0E0E0"/>
                </a:solidFill>
                <a:latin typeface="Lato"/>
                <a:ea typeface="Lato"/>
                <a:cs typeface="Lato"/>
              </a:rPr>
            </a:br>
            <a:r>
              <a:rPr lang="en-US" sz="1650">
                <a:solidFill>
                  <a:srgbClr val="E0E0E0"/>
                </a:solidFill>
                <a:latin typeface="Lato"/>
                <a:ea typeface="Lato"/>
                <a:cs typeface="Lato"/>
              </a:rPr>
              <a:t>Pedro Henrique Garcia </a:t>
            </a:r>
            <a:r>
              <a:rPr lang="en-US" sz="1650" err="1">
                <a:solidFill>
                  <a:srgbClr val="E0E0E0"/>
                </a:solidFill>
                <a:latin typeface="Lato"/>
                <a:ea typeface="Lato"/>
                <a:cs typeface="Lato"/>
              </a:rPr>
              <a:t>Bronzeri</a:t>
            </a:r>
            <a:endParaRPr lang="en-US" sz="1650">
              <a:solidFill>
                <a:srgbClr val="E0E0E0"/>
              </a:solidFill>
              <a:latin typeface="Lato"/>
              <a:ea typeface="Lato"/>
              <a:cs typeface="Lato"/>
            </a:endParaRPr>
          </a:p>
        </p:txBody>
      </p:sp>
    </p:spTree>
    <p:extLst>
      <p:ext uri="{BB962C8B-B14F-4D97-AF65-F5344CB8AC3E}">
        <p14:creationId xmlns:p14="http://schemas.microsoft.com/office/powerpoint/2010/main" val="36995659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B7FEAD68-BE52-965F-2C4A-B19268111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5">
            <a:extLst>
              <a:ext uri="{FF2B5EF4-FFF2-40B4-BE49-F238E27FC236}">
                <a16:creationId xmlns:a16="http://schemas.microsoft.com/office/drawing/2014/main" id="{89F8712C-586B-C370-72B7-0074E79381C1}"/>
              </a:ext>
            </a:extLst>
          </p:cNvPr>
          <p:cNvSpPr txBox="1"/>
          <p:nvPr/>
        </p:nvSpPr>
        <p:spPr>
          <a:xfrm>
            <a:off x="571500" y="571500"/>
            <a:ext cx="1160145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3000" b="1" dirty="0">
                <a:solidFill>
                  <a:srgbClr val="00BFFF"/>
                </a:solidFill>
                <a:latin typeface="Poppins"/>
                <a:cs typeface="Poppins"/>
              </a:rPr>
              <a:t>S.I.V.I.A: O NOVO GUARDA URBANO</a:t>
            </a:r>
            <a:endParaRPr lang="en-US" sz="3000" b="1" dirty="0">
              <a:solidFill>
                <a:srgbClr val="00B9F7"/>
              </a:solidFill>
              <a:latin typeface="Poppins"/>
              <a:cs typeface="Poppins"/>
            </a:endParaRPr>
          </a:p>
        </p:txBody>
      </p:sp>
      <p:pic>
        <p:nvPicPr>
          <p:cNvPr id="2" name="Imagem 1" descr="Placa de sinalização em poste na rua&#10;&#10;O conteúdo gerado por IA pode estar incorreto.">
            <a:extLst>
              <a:ext uri="{FF2B5EF4-FFF2-40B4-BE49-F238E27FC236}">
                <a16:creationId xmlns:a16="http://schemas.microsoft.com/office/drawing/2014/main" id="{5DE5A969-0382-D878-EEE6-CBBC3ECD32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6383" y="0"/>
            <a:ext cx="4605616" cy="6858000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3C87CDE1-3815-B95F-67F3-CA73C9190CC9}"/>
              </a:ext>
            </a:extLst>
          </p:cNvPr>
          <p:cNvSpPr txBox="1"/>
          <p:nvPr/>
        </p:nvSpPr>
        <p:spPr>
          <a:xfrm>
            <a:off x="5609843" y="1033165"/>
            <a:ext cx="8558695" cy="8002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Char char="•"/>
            </a:pPr>
            <a:endParaRPr lang="en-US" sz="1800" dirty="0">
              <a:solidFill>
                <a:srgbClr val="E0E0E0"/>
              </a:solidFill>
              <a:latin typeface="Lato"/>
              <a:ea typeface="Lato"/>
              <a:cs typeface="Lato"/>
            </a:endParaRPr>
          </a:p>
          <a:p>
            <a:pPr algn="ctr"/>
            <a:endParaRPr lang="pt-BR" dirty="0"/>
          </a:p>
          <a:p>
            <a:pPr algn="ctr"/>
            <a:endParaRPr lang="pt-BR" dirty="0"/>
          </a:p>
        </p:txBody>
      </p:sp>
      <p:pic>
        <p:nvPicPr>
          <p:cNvPr id="4" name="Google Shape;93;p14" descr="De cidadades reativas para preditivas: &#10;&#10;O primeiro totem IoT multifuncional que integra, em uma única&#10;plataforma, sensores de segurança e sensores ambientais, para&#10;transformar a cidade de reativa para preditiva&#10;">
            <a:extLst>
              <a:ext uri="{FF2B5EF4-FFF2-40B4-BE49-F238E27FC236}">
                <a16:creationId xmlns:a16="http://schemas.microsoft.com/office/drawing/2014/main" id="{ED1721A9-3E4A-D86D-952C-DF3D230500D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24300" y="1833385"/>
            <a:ext cx="6549256" cy="2236198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F85EAA8F-8572-AE59-FFB2-29C50B7F80FC}"/>
              </a:ext>
            </a:extLst>
          </p:cNvPr>
          <p:cNvSpPr txBox="1"/>
          <p:nvPr/>
        </p:nvSpPr>
        <p:spPr>
          <a:xfrm>
            <a:off x="673200" y="1943219"/>
            <a:ext cx="1139805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B9F7"/>
                </a:solidFill>
                <a:latin typeface="Poppins" panose="00000500000000000000" pitchFamily="2" charset="0"/>
                <a:ea typeface="Lato"/>
                <a:cs typeface="Poppins" panose="00000500000000000000" pitchFamily="2" charset="0"/>
              </a:rPr>
              <a:t>De </a:t>
            </a:r>
            <a:r>
              <a:rPr lang="en-US" sz="2400" dirty="0" err="1">
                <a:solidFill>
                  <a:srgbClr val="00B9F7"/>
                </a:solidFill>
                <a:latin typeface="Poppins" panose="00000500000000000000" pitchFamily="2" charset="0"/>
                <a:ea typeface="Lato"/>
                <a:cs typeface="Poppins" panose="00000500000000000000" pitchFamily="2" charset="0"/>
              </a:rPr>
              <a:t>cidadade</a:t>
            </a:r>
            <a:r>
              <a:rPr lang="en-US" sz="2400" dirty="0">
                <a:solidFill>
                  <a:srgbClr val="00B9F7"/>
                </a:solidFill>
                <a:latin typeface="Poppins" panose="00000500000000000000" pitchFamily="2" charset="0"/>
                <a:ea typeface="Lato"/>
                <a:cs typeface="Poppins" panose="00000500000000000000" pitchFamily="2" charset="0"/>
              </a:rPr>
              <a:t> </a:t>
            </a:r>
            <a:r>
              <a:rPr lang="en-US" sz="2400" dirty="0" err="1">
                <a:solidFill>
                  <a:srgbClr val="00B9F7"/>
                </a:solidFill>
                <a:latin typeface="Poppins" panose="00000500000000000000" pitchFamily="2" charset="0"/>
                <a:ea typeface="Lato"/>
                <a:cs typeface="Poppins" panose="00000500000000000000" pitchFamily="2" charset="0"/>
              </a:rPr>
              <a:t>reativa</a:t>
            </a:r>
            <a:r>
              <a:rPr lang="en-US" sz="2400" dirty="0">
                <a:solidFill>
                  <a:srgbClr val="00B9F7"/>
                </a:solidFill>
                <a:latin typeface="Poppins" panose="00000500000000000000" pitchFamily="2" charset="0"/>
                <a:ea typeface="Lato"/>
                <a:cs typeface="Poppins" panose="00000500000000000000" pitchFamily="2" charset="0"/>
              </a:rPr>
              <a:t> para </a:t>
            </a:r>
            <a:r>
              <a:rPr lang="en-US" sz="2400" dirty="0" err="1">
                <a:solidFill>
                  <a:srgbClr val="00B9F7"/>
                </a:solidFill>
                <a:latin typeface="Poppins" panose="00000500000000000000" pitchFamily="2" charset="0"/>
                <a:ea typeface="Lato"/>
                <a:cs typeface="Poppins" panose="00000500000000000000" pitchFamily="2" charset="0"/>
              </a:rPr>
              <a:t>preditiva</a:t>
            </a:r>
            <a:endParaRPr lang="en-US" sz="2400" dirty="0">
              <a:solidFill>
                <a:srgbClr val="00B9F7"/>
              </a:solidFill>
              <a:latin typeface="Poppins" panose="00000500000000000000" pitchFamily="2" charset="0"/>
              <a:ea typeface="Lato"/>
              <a:cs typeface="Poppins" panose="00000500000000000000" pitchFamily="2" charset="0"/>
            </a:endParaRPr>
          </a:p>
          <a:p>
            <a:pPr marL="285750" indent="-285750">
              <a:buChar char="•"/>
            </a:pPr>
            <a:endParaRPr lang="en-US" sz="1800" dirty="0">
              <a:solidFill>
                <a:srgbClr val="E0E0E0"/>
              </a:solidFill>
              <a:latin typeface="Lato"/>
              <a:ea typeface="Lato"/>
              <a:cs typeface="Lato"/>
            </a:endParaRPr>
          </a:p>
          <a:p>
            <a:r>
              <a:rPr lang="pt-BR" sz="1800" dirty="0">
                <a:solidFill>
                  <a:srgbClr val="D6D6D6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O primeiro totem IoT multifuncional que integra, </a:t>
            </a:r>
          </a:p>
          <a:p>
            <a:r>
              <a:rPr lang="pt-BR" sz="1800" dirty="0">
                <a:solidFill>
                  <a:srgbClr val="D6D6D6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em uma única plataforma, sensores de segurança e </a:t>
            </a:r>
          </a:p>
          <a:p>
            <a:r>
              <a:rPr lang="pt-BR" sz="1800" dirty="0" err="1">
                <a:solidFill>
                  <a:srgbClr val="D6D6D6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ensores</a:t>
            </a:r>
            <a:r>
              <a:rPr lang="pt-BR" sz="1800" dirty="0">
                <a:solidFill>
                  <a:srgbClr val="D6D6D6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ambientais.</a:t>
            </a:r>
          </a:p>
          <a:p>
            <a:r>
              <a:rPr lang="pt-BR" sz="1800" dirty="0">
                <a:solidFill>
                  <a:srgbClr val="D6D6D6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Para transformar a cidade de reativa para preditiva</a:t>
            </a:r>
            <a:endParaRPr lang="en-US" sz="1800" dirty="0">
              <a:solidFill>
                <a:srgbClr val="D6D6D6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97C34435-0374-8AF7-51DA-DEF1403BCAF0}"/>
              </a:ext>
            </a:extLst>
          </p:cNvPr>
          <p:cNvSpPr txBox="1"/>
          <p:nvPr/>
        </p:nvSpPr>
        <p:spPr>
          <a:xfrm>
            <a:off x="376813" y="1217712"/>
            <a:ext cx="70840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2400" dirty="0">
              <a:solidFill>
                <a:srgbClr val="00B9F7"/>
              </a:solidFill>
              <a:latin typeface="Poppins" panose="00000500000000000000" pitchFamily="2" charset="0"/>
              <a:ea typeface="Lato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1147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857500"/>
            <a:ext cx="5286375" cy="2095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857500"/>
            <a:ext cx="5286375" cy="20955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849391" y="3248025"/>
            <a:ext cx="4730591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0BFFF"/>
                </a:solidFill>
                <a:latin typeface="Poppins"/>
                <a:ea typeface="Poppins"/>
                <a:cs typeface="Poppins"/>
                <a:sym typeface="Poppins"/>
              </a:rPr>
              <a:t>Silo 1: </a:t>
            </a:r>
            <a:r>
              <a:rPr lang="en-US" sz="2400" b="1" i="0" u="none" strike="noStrike" cap="none" dirty="0" err="1">
                <a:solidFill>
                  <a:srgbClr val="00BFFF"/>
                </a:solidFill>
                <a:latin typeface="Poppins"/>
                <a:ea typeface="Poppins"/>
                <a:cs typeface="Poppins"/>
                <a:sym typeface="Poppins"/>
              </a:rPr>
              <a:t>Segurança</a:t>
            </a:r>
            <a:endParaRPr dirty="0"/>
          </a:p>
        </p:txBody>
      </p:sp>
      <p:sp>
        <p:nvSpPr>
          <p:cNvPr id="96" name="Google Shape;96;p14"/>
          <p:cNvSpPr txBox="1"/>
          <p:nvPr/>
        </p:nvSpPr>
        <p:spPr>
          <a:xfrm>
            <a:off x="962025" y="3876675"/>
            <a:ext cx="450532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Foco </a:t>
            </a:r>
            <a:r>
              <a:rPr lang="en-US" sz="1350" b="0" i="0" u="none" strike="noStrike" cap="none" dirty="0" err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em</a:t>
            </a:r>
            <a:r>
              <a:rPr lang="en-US" sz="1350" b="0" i="0" u="none" strike="noStrike" cap="none" dirty="0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vigilância</a:t>
            </a:r>
            <a:r>
              <a:rPr lang="en-US" sz="1350" b="0" i="0" u="none" strike="noStrike" cap="none" dirty="0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 e </a:t>
            </a:r>
            <a:r>
              <a:rPr lang="en-US" sz="1350" b="0" i="0" u="none" strike="noStrike" cap="none" dirty="0" err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reação</a:t>
            </a:r>
            <a:r>
              <a:rPr lang="en-US" sz="1350" b="0" i="0" u="none" strike="noStrike" cap="none" dirty="0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 (ex: </a:t>
            </a:r>
            <a:r>
              <a:rPr lang="en-US" sz="1350" b="0" i="0" u="none" strike="noStrike" cap="none" dirty="0" err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Detecta</a:t>
            </a:r>
            <a:r>
              <a:rPr lang="en-US" sz="1350" b="0" i="0" u="none" strike="noStrike" cap="none" dirty="0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). </a:t>
            </a:r>
            <a:r>
              <a:rPr lang="en-US" sz="1350" b="0" i="0" u="none" strike="noStrike" cap="none" dirty="0" err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Ignora</a:t>
            </a:r>
            <a:r>
              <a:rPr lang="en-US" sz="1350" b="0" i="0" u="none" strike="noStrike" cap="none" dirty="0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 o </a:t>
            </a:r>
            <a:r>
              <a:rPr lang="en-US" sz="1350" b="0" i="0" u="none" strike="noStrike" cap="none" dirty="0" err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contexto</a:t>
            </a:r>
            <a:r>
              <a:rPr lang="en-US" sz="1350" b="0" i="0" u="none" strike="noStrike" cap="none" dirty="0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ambiental</a:t>
            </a:r>
            <a:r>
              <a:rPr lang="en-US" sz="1350" b="0" i="0" u="none" strike="noStrike" cap="none" dirty="0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. Atua </a:t>
            </a:r>
            <a:r>
              <a:rPr lang="en-US" sz="1350" b="1" i="0" u="none" strike="noStrike" cap="none" dirty="0" err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após</a:t>
            </a:r>
            <a:r>
              <a:rPr lang="en-US" sz="1350" b="0" i="0" u="none" strike="noStrike" cap="none" dirty="0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 o crime </a:t>
            </a:r>
            <a:r>
              <a:rPr lang="en-US" sz="1350" b="0" i="0" u="none" strike="noStrike" cap="none" dirty="0" err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ocorrer</a:t>
            </a:r>
            <a:r>
              <a:rPr lang="en-US" sz="1350" b="0" i="0" u="none" strike="noStrike" cap="none" dirty="0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/>
          </a:p>
        </p:txBody>
      </p:sp>
      <p:sp>
        <p:nvSpPr>
          <p:cNvPr id="97" name="Google Shape;97;p14"/>
          <p:cNvSpPr txBox="1"/>
          <p:nvPr/>
        </p:nvSpPr>
        <p:spPr>
          <a:xfrm>
            <a:off x="6612016" y="3248025"/>
            <a:ext cx="4730591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BFFF"/>
                </a:solidFill>
                <a:latin typeface="Poppins"/>
                <a:ea typeface="Poppins"/>
                <a:cs typeface="Poppins"/>
                <a:sym typeface="Poppins"/>
              </a:rPr>
              <a:t>Silo 2: Ambiental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6724650" y="3876675"/>
            <a:ext cx="450532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Foco em coleta de dados (ex: Array of Things). É passivo. Não usa dados para alertas em tempo real.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BFFF"/>
                </a:solidFill>
                <a:latin typeface="Poppins"/>
                <a:ea typeface="Poppins"/>
                <a:cs typeface="Poppins"/>
                <a:sym typeface="Poppins"/>
              </a:rPr>
              <a:t>O Problema Central: A Gestão em "Silos"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5"/>
          <p:cNvSpPr txBox="1"/>
          <p:nvPr/>
        </p:nvSpPr>
        <p:spPr>
          <a:xfrm>
            <a:off x="2190750" y="2976562"/>
            <a:ext cx="8191500" cy="31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350" b="1" i="0" u="none" strike="noStrike" cap="none" err="1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Custo</a:t>
            </a:r>
            <a:r>
              <a:rPr lang="en-US" sz="1350" b="1" i="0" u="none" strike="noStrike" cap="non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1" i="0" u="none" strike="noStrike" cap="none" err="1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Duplicado</a:t>
            </a:r>
            <a:r>
              <a:rPr lang="en-US" sz="1350" b="1" i="0" u="none" strike="noStrike" cap="non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:</a:t>
            </a:r>
            <a:r>
              <a:rPr lang="en-US" sz="1350" b="0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A </a:t>
            </a:r>
            <a:r>
              <a:rPr lang="en-US" sz="1350" err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cidade</a:t>
            </a:r>
            <a:r>
              <a:rPr lang="en-US" sz="1350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err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paga</a:t>
            </a:r>
            <a:r>
              <a:rPr lang="en-US" sz="1350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 3x </a:t>
            </a:r>
            <a:r>
              <a:rPr lang="en-US" sz="1350" err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pelo</a:t>
            </a:r>
            <a:r>
              <a:rPr lang="en-US" sz="1350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err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mesmo</a:t>
            </a:r>
            <a:r>
              <a:rPr lang="en-US" sz="1350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err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ativo</a:t>
            </a:r>
            <a:r>
              <a:rPr lang="en-US" sz="1350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 (poste, </a:t>
            </a:r>
            <a:r>
              <a:rPr lang="en-US" sz="1350" err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energia</a:t>
            </a:r>
            <a:r>
              <a:rPr lang="en-US" sz="1350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, dados) para 3 </a:t>
            </a:r>
            <a:r>
              <a:rPr lang="en-US" sz="1350" err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secretarias</a:t>
            </a:r>
            <a:r>
              <a:rPr lang="en-US" sz="1350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err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diferentes</a:t>
            </a:r>
            <a:r>
              <a:rPr lang="en-US" sz="1350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lang="pt-BR">
              <a:ea typeface="Lato"/>
            </a:endParaRPr>
          </a:p>
        </p:txBody>
      </p:sp>
      <p:sp>
        <p:nvSpPr>
          <p:cNvPr id="106" name="Google Shape;106;p15"/>
          <p:cNvSpPr txBox="1"/>
          <p:nvPr/>
        </p:nvSpPr>
        <p:spPr>
          <a:xfrm>
            <a:off x="2190750" y="3424237"/>
            <a:ext cx="81915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Pontos Cegos:</a:t>
            </a:r>
            <a:r>
              <a:rPr lang="en-US" sz="1350" b="0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 Perda de potencial preditivo. Não correlacionamos falhas de luz com assaltos, ou alagamentos com furtos.</a:t>
            </a:r>
            <a:endParaRPr/>
          </a:p>
        </p:txBody>
      </p:sp>
      <p:sp>
        <p:nvSpPr>
          <p:cNvPr id="107" name="Google Shape;107;p15"/>
          <p:cNvSpPr txBox="1"/>
          <p:nvPr/>
        </p:nvSpPr>
        <p:spPr>
          <a:xfrm>
            <a:off x="2190750" y="4129087"/>
            <a:ext cx="81915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Gestão Reativa:</a:t>
            </a:r>
            <a:r>
              <a:rPr lang="en-US" sz="1350" b="0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 Tratamos cada evento como independente, perdendo a chance de prever, prevenir e agir de forma proativa.</a:t>
            </a:r>
            <a:endParaRPr/>
          </a:p>
        </p:txBody>
      </p:sp>
      <p:pic>
        <p:nvPicPr>
          <p:cNvPr id="108" name="Google Shape;108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09750" y="3024187"/>
            <a:ext cx="2857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809750" y="3471862"/>
            <a:ext cx="2857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809750" y="4176712"/>
            <a:ext cx="20002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5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BFFF"/>
                </a:solidFill>
                <a:latin typeface="Poppins"/>
                <a:ea typeface="Poppins"/>
                <a:cs typeface="Poppins"/>
                <a:sym typeface="Poppins"/>
              </a:rPr>
              <a:t>A Consequência: Custo Duplicado e Pontos Cegos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000250"/>
            <a:ext cx="528637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6"/>
          <p:cNvSpPr txBox="1"/>
          <p:nvPr/>
        </p:nvSpPr>
        <p:spPr>
          <a:xfrm>
            <a:off x="571500" y="2000250"/>
            <a:ext cx="5550693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BFFF"/>
                </a:solidFill>
                <a:latin typeface="Poppins"/>
                <a:ea typeface="Poppins"/>
                <a:cs typeface="Poppins"/>
                <a:sym typeface="Poppins"/>
              </a:rPr>
              <a:t>Quebrando a Barreira</a:t>
            </a:r>
            <a:endParaRPr/>
          </a:p>
        </p:txBody>
      </p:sp>
      <p:sp>
        <p:nvSpPr>
          <p:cNvPr id="119" name="Google Shape;119;p16"/>
          <p:cNvSpPr txBox="1"/>
          <p:nvPr/>
        </p:nvSpPr>
        <p:spPr>
          <a:xfrm>
            <a:off x="571500" y="2628900"/>
            <a:ext cx="528637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Propomos o S.I.V.I.A., um Hub de Resiliência Urbana.</a:t>
            </a:r>
            <a:endParaRPr/>
          </a:p>
        </p:txBody>
      </p:sp>
      <p:sp>
        <p:nvSpPr>
          <p:cNvPr id="120" name="Google Shape;120;p16"/>
          <p:cNvSpPr txBox="1"/>
          <p:nvPr/>
        </p:nvSpPr>
        <p:spPr>
          <a:xfrm>
            <a:off x="571500" y="3057525"/>
            <a:ext cx="5286375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A inovação é a </a:t>
            </a:r>
            <a:r>
              <a:rPr lang="en-US" sz="1350" b="1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arquitetura de integração</a:t>
            </a:r>
            <a:r>
              <a:rPr lang="en-US" sz="1350" b="0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: um único totem IoT multifuncional que atende a múltiplas secretarias (Segurança, Defesa Civil, Obras) simultaneamente.</a:t>
            </a:r>
            <a:endParaRPr/>
          </a:p>
        </p:txBody>
      </p:sp>
      <p:pic>
        <p:nvPicPr>
          <p:cNvPr id="121" name="Google Shape;121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43650" y="2009775"/>
            <a:ext cx="5267325" cy="379095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6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BFFF"/>
                </a:solidFill>
                <a:latin typeface="Poppins"/>
                <a:ea typeface="Poppins"/>
                <a:cs typeface="Poppins"/>
                <a:sym typeface="Poppins"/>
              </a:rPr>
              <a:t>A Solução: S.I.V.I.A.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Google Shape;127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519362"/>
            <a:ext cx="3429000" cy="2771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81500" y="2519362"/>
            <a:ext cx="3429000" cy="2771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91500" y="2519362"/>
            <a:ext cx="3429000" cy="2771775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7"/>
          <p:cNvSpPr txBox="1"/>
          <p:nvPr/>
        </p:nvSpPr>
        <p:spPr>
          <a:xfrm>
            <a:off x="1165860" y="3529012"/>
            <a:ext cx="2240280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BFFF"/>
                </a:solidFill>
                <a:latin typeface="Poppins"/>
                <a:ea typeface="Poppins"/>
                <a:cs typeface="Poppins"/>
                <a:sym typeface="Poppins"/>
              </a:rPr>
              <a:t>Segurança Tática</a:t>
            </a:r>
            <a:endParaRPr/>
          </a:p>
        </p:txBody>
      </p:sp>
      <p:sp>
        <p:nvSpPr>
          <p:cNvPr id="132" name="Google Shape;132;p17"/>
          <p:cNvSpPr txBox="1"/>
          <p:nvPr/>
        </p:nvSpPr>
        <p:spPr>
          <a:xfrm>
            <a:off x="866775" y="4157662"/>
            <a:ext cx="283845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Câmeras 4K (IA na Borda) e Microfones direcionais (análise acústica de disparos, gritos).</a:t>
            </a:r>
            <a:endParaRPr/>
          </a:p>
        </p:txBody>
      </p:sp>
      <p:sp>
        <p:nvSpPr>
          <p:cNvPr id="133" name="Google Shape;133;p17"/>
          <p:cNvSpPr txBox="1"/>
          <p:nvPr/>
        </p:nvSpPr>
        <p:spPr>
          <a:xfrm>
            <a:off x="4785836" y="3529012"/>
            <a:ext cx="2620327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BFFF"/>
                </a:solidFill>
                <a:latin typeface="Poppins"/>
                <a:ea typeface="Poppins"/>
                <a:cs typeface="Poppins"/>
                <a:sym typeface="Poppins"/>
              </a:rPr>
              <a:t>Sensores Ambientais</a:t>
            </a:r>
            <a:endParaRPr/>
          </a:p>
        </p:txBody>
      </p:sp>
      <p:sp>
        <p:nvSpPr>
          <p:cNvPr id="134" name="Google Shape;134;p17"/>
          <p:cNvSpPr txBox="1"/>
          <p:nvPr/>
        </p:nvSpPr>
        <p:spPr>
          <a:xfrm>
            <a:off x="4676775" y="4157662"/>
            <a:ext cx="283845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Qualidade do ar, poluição sonora, nível de alagamento e falhas na iluminação pública.</a:t>
            </a:r>
            <a:endParaRPr/>
          </a:p>
        </p:txBody>
      </p:sp>
      <p:sp>
        <p:nvSpPr>
          <p:cNvPr id="135" name="Google Shape;135;p17"/>
          <p:cNvSpPr txBox="1"/>
          <p:nvPr/>
        </p:nvSpPr>
        <p:spPr>
          <a:xfrm>
            <a:off x="8495823" y="3529012"/>
            <a:ext cx="2820352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BFFF"/>
                </a:solidFill>
                <a:latin typeface="Poppins"/>
                <a:ea typeface="Poppins"/>
                <a:cs typeface="Poppins"/>
                <a:sym typeface="Poppins"/>
              </a:rPr>
              <a:t>Interação e Resiliência</a:t>
            </a:r>
            <a:endParaRPr/>
          </a:p>
        </p:txBody>
      </p:sp>
      <p:sp>
        <p:nvSpPr>
          <p:cNvPr id="136" name="Google Shape;136;p17"/>
          <p:cNvSpPr txBox="1"/>
          <p:nvPr/>
        </p:nvSpPr>
        <p:spPr>
          <a:xfrm>
            <a:off x="8486775" y="4157662"/>
            <a:ext cx="283845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Botão de Pânico com triagem de IA, estrutura antivandalismo (IP67) e UPS autônoma.</a:t>
            </a:r>
            <a:endParaRPr/>
          </a:p>
        </p:txBody>
      </p:sp>
      <p:pic>
        <p:nvPicPr>
          <p:cNvPr id="137" name="Google Shape;137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28825" y="2833687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10250" y="2833687"/>
            <a:ext cx="5715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705975" y="2833687"/>
            <a:ext cx="4000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7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BFFF"/>
                </a:solidFill>
                <a:latin typeface="Poppins"/>
                <a:ea typeface="Poppins"/>
                <a:cs typeface="Poppins"/>
                <a:sym typeface="Poppins"/>
              </a:rPr>
              <a:t>O Hardware: O "Sentinela" Urbano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Google Shape;145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26" y="10026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8"/>
          <p:cNvSpPr txBox="1"/>
          <p:nvPr/>
        </p:nvSpPr>
        <p:spPr>
          <a:xfrm>
            <a:off x="571500" y="571500"/>
            <a:ext cx="5550693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BFFF"/>
                </a:solidFill>
                <a:latin typeface="Poppins"/>
                <a:ea typeface="Poppins"/>
                <a:cs typeface="Poppins"/>
                <a:sym typeface="Poppins"/>
              </a:rPr>
              <a:t>A Inteligência (Parte 1): IA na Borda</a:t>
            </a:r>
            <a:endParaRPr/>
          </a:p>
        </p:txBody>
      </p:sp>
      <p:pic>
        <p:nvPicPr>
          <p:cNvPr id="147" name="Google Shape;147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0"/>
            <a:ext cx="585787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18"/>
          <p:cNvSpPr txBox="1"/>
          <p:nvPr/>
        </p:nvSpPr>
        <p:spPr>
          <a:xfrm>
            <a:off x="571500" y="2095500"/>
            <a:ext cx="5550693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 "Especialista Rápido"</a:t>
            </a:r>
            <a:endParaRPr/>
          </a:p>
        </p:txBody>
      </p:sp>
      <p:sp>
        <p:nvSpPr>
          <p:cNvPr id="149" name="Google Shape;149;p18"/>
          <p:cNvSpPr txBox="1"/>
          <p:nvPr/>
        </p:nvSpPr>
        <p:spPr>
          <a:xfrm>
            <a:off x="571500" y="2867025"/>
            <a:ext cx="52863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A primeira camada de IA opera dentro do próprio totem.</a:t>
            </a:r>
            <a:endParaRPr/>
          </a:p>
        </p:txBody>
      </p:sp>
      <p:sp>
        <p:nvSpPr>
          <p:cNvPr id="150" name="Google Shape;150;p18"/>
          <p:cNvSpPr txBox="1"/>
          <p:nvPr/>
        </p:nvSpPr>
        <p:spPr>
          <a:xfrm>
            <a:off x="857250" y="3445162"/>
            <a:ext cx="952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51" name="Google Shape;151;p18"/>
          <p:cNvSpPr txBox="1"/>
          <p:nvPr/>
        </p:nvSpPr>
        <p:spPr>
          <a:xfrm>
            <a:off x="952500" y="3446115"/>
            <a:ext cx="4905375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>
              <a:lnSpc>
                <a:spcPct val="160000"/>
              </a:lnSpc>
            </a:pPr>
            <a:r>
              <a:rPr lang="en-US" sz="1350" b="1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Velocidade</a:t>
            </a:r>
            <a:r>
              <a:rPr lang="en-US" sz="1350" b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:</a:t>
            </a:r>
            <a:r>
              <a:rPr lang="en-US" sz="1350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 Resposta tática em milissegundos (ex: detecção de tiro).</a:t>
            </a:r>
            <a:endParaRPr lang="pt-BR">
              <a:ea typeface="Lato"/>
            </a:endParaRPr>
          </a:p>
        </p:txBody>
      </p:sp>
      <p:sp>
        <p:nvSpPr>
          <p:cNvPr id="152" name="Google Shape;152;p18"/>
          <p:cNvSpPr txBox="1"/>
          <p:nvPr/>
        </p:nvSpPr>
        <p:spPr>
          <a:xfrm>
            <a:off x="857250" y="4146143"/>
            <a:ext cx="952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53" name="Google Shape;153;p18"/>
          <p:cNvSpPr txBox="1"/>
          <p:nvPr/>
        </p:nvSpPr>
        <p:spPr>
          <a:xfrm>
            <a:off x="952500" y="4147095"/>
            <a:ext cx="4905375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>
              <a:lnSpc>
                <a:spcPct val="160000"/>
              </a:lnSpc>
            </a:pPr>
            <a:r>
              <a:rPr lang="en-US" sz="1350" b="1" i="0" u="none" strike="noStrike" cap="none" err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Privacidade</a:t>
            </a:r>
            <a:r>
              <a:rPr lang="en-US" sz="1350" b="1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 (LGPD</a:t>
            </a:r>
            <a:r>
              <a:rPr lang="en-US" sz="1350" b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):</a:t>
            </a:r>
            <a:r>
              <a:rPr lang="en-US" sz="1350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err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Vídeo</a:t>
            </a:r>
            <a:r>
              <a:rPr lang="en-US" sz="1350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err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processado</a:t>
            </a:r>
            <a:r>
              <a:rPr lang="en-US" sz="1350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err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localmente</a:t>
            </a:r>
            <a:r>
              <a:rPr lang="en-US" sz="1350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. </a:t>
            </a:r>
            <a:r>
              <a:rPr lang="en-US" sz="1350" err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Apenas</a:t>
            </a:r>
            <a:r>
              <a:rPr lang="en-US" sz="1350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err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metadados</a:t>
            </a:r>
            <a:r>
              <a:rPr lang="en-US" sz="1350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 ({"</a:t>
            </a:r>
            <a:r>
              <a:rPr lang="en-US" sz="1350" err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evento</a:t>
            </a:r>
            <a:r>
              <a:rPr lang="en-US" sz="1350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": "</a:t>
            </a:r>
            <a:r>
              <a:rPr lang="en-US" sz="1350" err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briga</a:t>
            </a:r>
            <a:r>
              <a:rPr lang="en-US" sz="1350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"}) </a:t>
            </a:r>
            <a:r>
              <a:rPr lang="en-US" sz="1350" err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são</a:t>
            </a:r>
            <a:r>
              <a:rPr lang="en-US" sz="1350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err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enviados</a:t>
            </a:r>
            <a:r>
              <a:rPr lang="en-US" sz="1350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lang="pt-BR">
              <a:ea typeface="Lato"/>
            </a:endParaRPr>
          </a:p>
        </p:txBody>
      </p:sp>
      <p:sp>
        <p:nvSpPr>
          <p:cNvPr id="154" name="Google Shape;154;p18"/>
          <p:cNvSpPr txBox="1"/>
          <p:nvPr/>
        </p:nvSpPr>
        <p:spPr>
          <a:xfrm>
            <a:off x="857250" y="4847123"/>
            <a:ext cx="95250" cy="207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350">
              <a:solidFill>
                <a:srgbClr val="E0E0E0"/>
              </a:solidFill>
              <a:latin typeface="Lato"/>
              <a:ea typeface="Lato"/>
              <a:cs typeface="Lato"/>
            </a:endParaRPr>
          </a:p>
        </p:txBody>
      </p:sp>
      <p:sp>
        <p:nvSpPr>
          <p:cNvPr id="155" name="Google Shape;155;p18"/>
          <p:cNvSpPr txBox="1"/>
          <p:nvPr/>
        </p:nvSpPr>
        <p:spPr>
          <a:xfrm>
            <a:off x="952500" y="4848076"/>
            <a:ext cx="4905375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>
              <a:lnSpc>
                <a:spcPct val="160000"/>
              </a:lnSpc>
            </a:pPr>
            <a:r>
              <a:rPr lang="en-US" sz="1350" b="1" i="0" u="none" strike="noStrike" cap="none" err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Eficiência</a:t>
            </a:r>
            <a:r>
              <a:rPr lang="en-US" sz="1350" b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:</a:t>
            </a:r>
            <a:r>
              <a:rPr lang="en-US" sz="1350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err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Reduz</a:t>
            </a:r>
            <a:r>
              <a:rPr lang="en-US" sz="1350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err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drasticamente</a:t>
            </a:r>
            <a:r>
              <a:rPr lang="en-US" sz="1350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 o </a:t>
            </a:r>
            <a:r>
              <a:rPr lang="en-US" sz="1350" err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custo</a:t>
            </a:r>
            <a:r>
              <a:rPr lang="en-US" sz="1350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 de </a:t>
            </a:r>
            <a:r>
              <a:rPr lang="en-US" sz="1350" err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transmissão</a:t>
            </a:r>
            <a:r>
              <a:rPr lang="en-US" sz="1350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 de dados.</a:t>
            </a:r>
            <a:endParaRPr lang="pt-BR">
              <a:ea typeface="Lat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857500"/>
            <a:ext cx="5286375" cy="2095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857500"/>
            <a:ext cx="5286375" cy="2095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19"/>
          <p:cNvSpPr txBox="1"/>
          <p:nvPr/>
        </p:nvSpPr>
        <p:spPr>
          <a:xfrm>
            <a:off x="849391" y="3248025"/>
            <a:ext cx="4730591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BFFF"/>
                </a:solidFill>
                <a:latin typeface="Poppins"/>
                <a:ea typeface="Poppins"/>
                <a:cs typeface="Poppins"/>
                <a:sym typeface="Poppins"/>
              </a:rPr>
              <a:t>O "Estrategista Holístico"</a:t>
            </a:r>
            <a:endParaRPr/>
          </a:p>
        </p:txBody>
      </p:sp>
      <p:sp>
        <p:nvSpPr>
          <p:cNvPr id="164" name="Google Shape;164;p19"/>
          <p:cNvSpPr txBox="1"/>
          <p:nvPr/>
        </p:nvSpPr>
        <p:spPr>
          <a:xfrm>
            <a:off x="962025" y="3876675"/>
            <a:ext cx="450532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Recebe metadados leves de milhares de totens para correlacionar informações e encontrar padrões ocultos.</a:t>
            </a:r>
            <a:endParaRPr/>
          </a:p>
        </p:txBody>
      </p:sp>
      <p:sp>
        <p:nvSpPr>
          <p:cNvPr id="165" name="Google Shape;165;p19"/>
          <p:cNvSpPr txBox="1"/>
          <p:nvPr/>
        </p:nvSpPr>
        <p:spPr>
          <a:xfrm>
            <a:off x="6612016" y="3248025"/>
            <a:ext cx="4730591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BFFF"/>
                </a:solidFill>
                <a:latin typeface="Poppins"/>
                <a:ea typeface="Poppins"/>
                <a:cs typeface="Poppins"/>
                <a:sym typeface="Poppins"/>
              </a:rPr>
              <a:t>Cérebro Tático (Real-Time)</a:t>
            </a:r>
            <a:endParaRPr/>
          </a:p>
        </p:txBody>
      </p:sp>
      <p:sp>
        <p:nvSpPr>
          <p:cNvPr id="166" name="Google Shape;166;p19"/>
          <p:cNvSpPr txBox="1"/>
          <p:nvPr/>
        </p:nvSpPr>
        <p:spPr>
          <a:xfrm>
            <a:off x="6724650" y="3876675"/>
            <a:ext cx="450532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Triangulação de alertas, rastreamento (handoff) de suspeitos, e despacho automatizado (ex: abre chamado em Obras).</a:t>
            </a:r>
            <a:endParaRPr/>
          </a:p>
        </p:txBody>
      </p:sp>
      <p:sp>
        <p:nvSpPr>
          <p:cNvPr id="167" name="Google Shape;167;p19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BFFF"/>
                </a:solidFill>
                <a:latin typeface="Poppins"/>
                <a:ea typeface="Poppins"/>
                <a:cs typeface="Poppins"/>
                <a:sym typeface="Poppins"/>
              </a:rPr>
              <a:t>A Inteligência (Parte 2): IA na Nuvem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20"/>
          <p:cNvSpPr txBox="1"/>
          <p:nvPr/>
        </p:nvSpPr>
        <p:spPr>
          <a:xfrm>
            <a:off x="2057400" y="2353865"/>
            <a:ext cx="8077200" cy="25598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(Lâmpada Queimada) + (Rua Vazia) → +30% Risco de Assalto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36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(Alagamento) + (Trânsito Parado) → +90% Risco de Furto</a:t>
            </a:r>
            <a:endParaRPr/>
          </a:p>
        </p:txBody>
      </p:sp>
      <p:sp>
        <p:nvSpPr>
          <p:cNvPr id="174" name="Google Shape;174;p20"/>
          <p:cNvSpPr txBox="1"/>
          <p:nvPr/>
        </p:nvSpPr>
        <p:spPr>
          <a:xfrm>
            <a:off x="3233737" y="5199459"/>
            <a:ext cx="572452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00BFFF"/>
                </a:solidFill>
                <a:latin typeface="Lato"/>
                <a:ea typeface="Lato"/>
                <a:cs typeface="Lato"/>
                <a:sym typeface="Lato"/>
              </a:rPr>
              <a:t>— O "Waze" da Polícia: Atuação preventiva, não apenas reativa.</a:t>
            </a:r>
            <a:endParaRPr/>
          </a:p>
        </p:txBody>
      </p:sp>
      <p:sp>
        <p:nvSpPr>
          <p:cNvPr id="175" name="Google Shape;175;p20"/>
          <p:cNvSpPr txBox="1"/>
          <p:nvPr/>
        </p:nvSpPr>
        <p:spPr>
          <a:xfrm>
            <a:off x="1581150" y="2639615"/>
            <a:ext cx="276225" cy="1428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0" i="0" u="none" strike="noStrike" cap="none">
                <a:solidFill>
                  <a:srgbClr val="00BFFF"/>
                </a:solidFill>
                <a:latin typeface="Poppins"/>
                <a:ea typeface="Poppins"/>
                <a:cs typeface="Poppins"/>
                <a:sym typeface="Poppins"/>
              </a:rPr>
              <a:t>"</a:t>
            </a:r>
            <a:endParaRPr/>
          </a:p>
        </p:txBody>
      </p:sp>
      <p:sp>
        <p:nvSpPr>
          <p:cNvPr id="176" name="Google Shape;176;p20"/>
          <p:cNvSpPr txBox="1"/>
          <p:nvPr/>
        </p:nvSpPr>
        <p:spPr>
          <a:xfrm>
            <a:off x="10334625" y="4818459"/>
            <a:ext cx="276225" cy="1428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0" i="0" u="none" strike="noStrike" cap="none">
                <a:solidFill>
                  <a:srgbClr val="00BFFF"/>
                </a:solidFill>
                <a:latin typeface="Poppins"/>
                <a:ea typeface="Poppins"/>
                <a:cs typeface="Poppins"/>
                <a:sym typeface="Poppins"/>
              </a:rPr>
              <a:t>"</a:t>
            </a:r>
            <a:endParaRPr/>
          </a:p>
        </p:txBody>
      </p:sp>
      <p:sp>
        <p:nvSpPr>
          <p:cNvPr id="177" name="Google Shape;177;p20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BFFF"/>
                </a:solidFill>
                <a:latin typeface="Poppins"/>
                <a:ea typeface="Poppins"/>
                <a:cs typeface="Poppins"/>
                <a:sym typeface="Poppins"/>
              </a:rPr>
              <a:t>O Poder Preditivo: O "Mapa de Risco"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633662"/>
            <a:ext cx="3429000" cy="2543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81500" y="2633662"/>
            <a:ext cx="3429000" cy="2543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91500" y="2633662"/>
            <a:ext cx="3429000" cy="2543175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21"/>
          <p:cNvSpPr txBox="1"/>
          <p:nvPr/>
        </p:nvSpPr>
        <p:spPr>
          <a:xfrm>
            <a:off x="835818" y="3643312"/>
            <a:ext cx="2900362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BFFF"/>
                </a:solidFill>
                <a:latin typeface="Poppins"/>
                <a:ea typeface="Poppins"/>
                <a:cs typeface="Poppins"/>
                <a:sym typeface="Poppins"/>
              </a:rPr>
              <a:t>Viabilidade Econômica</a:t>
            </a:r>
            <a:endParaRPr/>
          </a:p>
        </p:txBody>
      </p:sp>
      <p:sp>
        <p:nvSpPr>
          <p:cNvPr id="187" name="Google Shape;187;p21"/>
          <p:cNvSpPr txBox="1"/>
          <p:nvPr/>
        </p:nvSpPr>
        <p:spPr>
          <a:xfrm>
            <a:off x="866775" y="4271962"/>
            <a:ext cx="28384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200" b="0" i="0" u="none" strike="noStrike" cap="none" err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Custo</a:t>
            </a:r>
            <a:r>
              <a:rPr lang="en-US" sz="1200" b="0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00" b="0" i="0" u="none" strike="noStrike" cap="none" err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diluído</a:t>
            </a:r>
            <a:r>
              <a:rPr lang="en-US" sz="1200" b="0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. </a:t>
            </a:r>
            <a:r>
              <a:rPr lang="en-US" sz="1200" b="0" i="0" u="none" strike="noStrike" cap="none" err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Troca</a:t>
            </a:r>
            <a:r>
              <a:rPr lang="en-US" sz="1200" b="0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 de 3 </a:t>
            </a:r>
            <a:r>
              <a:rPr lang="en-US" sz="1200" b="0" i="0" u="none" strike="noStrike" cap="none" err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sistemas</a:t>
            </a:r>
            <a:r>
              <a:rPr lang="en-US" sz="1200" b="0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00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"</a:t>
            </a:r>
            <a:r>
              <a:rPr lang="en-US" sz="1200" err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menos</a:t>
            </a:r>
            <a:r>
              <a:rPr lang="en-US" sz="1200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00" err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inteligentes</a:t>
            </a:r>
            <a:r>
              <a:rPr lang="en-US" sz="1200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"</a:t>
            </a:r>
            <a:r>
              <a:rPr lang="en-US" sz="1200" b="0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00" b="0" i="0" u="none" strike="noStrike" cap="none" err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por</a:t>
            </a:r>
            <a:r>
              <a:rPr lang="en-US" sz="1200" b="0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 1 </a:t>
            </a:r>
            <a:r>
              <a:rPr lang="en-US" sz="1200" b="0" i="0" u="none" strike="noStrike" cap="none" err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inteligente</a:t>
            </a:r>
            <a:r>
              <a:rPr lang="en-US" sz="1200" b="0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 e </a:t>
            </a:r>
            <a:r>
              <a:rPr lang="en-US" sz="1200" b="0" i="0" u="none" strike="noStrike" cap="none" err="1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integrado</a:t>
            </a:r>
            <a:r>
              <a:rPr lang="en-US" sz="1200" b="0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/>
          </a:p>
        </p:txBody>
      </p:sp>
      <p:sp>
        <p:nvSpPr>
          <p:cNvPr id="188" name="Google Shape;188;p21"/>
          <p:cNvSpPr txBox="1"/>
          <p:nvPr/>
        </p:nvSpPr>
        <p:spPr>
          <a:xfrm>
            <a:off x="4685823" y="3643312"/>
            <a:ext cx="2820352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BFFF"/>
                </a:solidFill>
                <a:latin typeface="Poppins"/>
                <a:ea typeface="Poppins"/>
                <a:cs typeface="Poppins"/>
                <a:sym typeface="Poppins"/>
              </a:rPr>
              <a:t>Eficiência Operacional</a:t>
            </a:r>
            <a:endParaRPr/>
          </a:p>
        </p:txBody>
      </p:sp>
      <p:sp>
        <p:nvSpPr>
          <p:cNvPr id="189" name="Google Shape;189;p21"/>
          <p:cNvSpPr txBox="1"/>
          <p:nvPr/>
        </p:nvSpPr>
        <p:spPr>
          <a:xfrm>
            <a:off x="4676775" y="4271962"/>
            <a:ext cx="283845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Evolui a gestão da cidade de um modelo Reativo para um modelo Preditivo.</a:t>
            </a:r>
            <a:endParaRPr/>
          </a:p>
        </p:txBody>
      </p:sp>
      <p:sp>
        <p:nvSpPr>
          <p:cNvPr id="190" name="Google Shape;190;p21"/>
          <p:cNvSpPr txBox="1"/>
          <p:nvPr/>
        </p:nvSpPr>
        <p:spPr>
          <a:xfrm>
            <a:off x="8825865" y="3643312"/>
            <a:ext cx="2160270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BFFF"/>
                </a:solidFill>
                <a:latin typeface="Poppins"/>
                <a:ea typeface="Poppins"/>
                <a:cs typeface="Poppins"/>
                <a:sym typeface="Poppins"/>
              </a:rPr>
              <a:t>Resiliência Social</a:t>
            </a:r>
            <a:endParaRPr/>
          </a:p>
        </p:txBody>
      </p:sp>
      <p:sp>
        <p:nvSpPr>
          <p:cNvPr id="191" name="Google Shape;191;p21"/>
          <p:cNvSpPr txBox="1"/>
          <p:nvPr/>
        </p:nvSpPr>
        <p:spPr>
          <a:xfrm>
            <a:off x="8486775" y="4271962"/>
            <a:ext cx="283845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Ponto de emergência confiável (Botão de Pânico com IA) e melhor gestão de riscos.</a:t>
            </a:r>
            <a:endParaRPr/>
          </a:p>
        </p:txBody>
      </p:sp>
      <p:pic>
        <p:nvPicPr>
          <p:cNvPr id="192" name="Google Shape;192;p21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28825" y="2947987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21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67400" y="2947987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21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77400" y="2947987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1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BFFF"/>
                </a:solidFill>
                <a:latin typeface="Poppins"/>
                <a:ea typeface="Poppins"/>
                <a:cs typeface="Poppins"/>
                <a:sym typeface="Poppins"/>
              </a:rPr>
              <a:t>Proposta de Valor: O "Porquê" do S.I.V.I.A.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Google Shape;200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2"/>
          <p:cNvSpPr/>
          <p:nvPr/>
        </p:nvSpPr>
        <p:spPr>
          <a:xfrm>
            <a:off x="571500" y="3886200"/>
            <a:ext cx="11049000" cy="38100"/>
          </a:xfrm>
          <a:prstGeom prst="roundRect">
            <a:avLst>
              <a:gd name="adj" fmla="val 16667"/>
            </a:avLst>
          </a:prstGeom>
          <a:solidFill>
            <a:srgbClr val="44444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2"/>
          <p:cNvSpPr txBox="1"/>
          <p:nvPr/>
        </p:nvSpPr>
        <p:spPr>
          <a:xfrm>
            <a:off x="488632" y="4143375"/>
            <a:ext cx="3480435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BFFF"/>
                </a:solidFill>
                <a:latin typeface="Poppins"/>
                <a:ea typeface="Poppins"/>
                <a:cs typeface="Poppins"/>
                <a:sym typeface="Poppins"/>
              </a:rPr>
              <a:t>Fase 1: Protótipo (MVP)</a:t>
            </a:r>
            <a:endParaRPr/>
          </a:p>
        </p:txBody>
      </p:sp>
      <p:sp>
        <p:nvSpPr>
          <p:cNvPr id="203" name="Google Shape;203;p22"/>
          <p:cNvSpPr txBox="1"/>
          <p:nvPr/>
        </p:nvSpPr>
        <p:spPr>
          <a:xfrm>
            <a:off x="571500" y="4629150"/>
            <a:ext cx="33147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6 Meses: Construção e validação de 1 totem funcional (hardware, energia, conexão).</a:t>
            </a:r>
            <a:endParaRPr/>
          </a:p>
        </p:txBody>
      </p:sp>
      <p:sp>
        <p:nvSpPr>
          <p:cNvPr id="204" name="Google Shape;204;p22"/>
          <p:cNvSpPr txBox="1"/>
          <p:nvPr/>
        </p:nvSpPr>
        <p:spPr>
          <a:xfrm>
            <a:off x="4355782" y="2571750"/>
            <a:ext cx="3480435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BFFF"/>
                </a:solidFill>
                <a:latin typeface="Poppins"/>
                <a:ea typeface="Poppins"/>
                <a:cs typeface="Poppins"/>
                <a:sym typeface="Poppins"/>
              </a:rPr>
              <a:t>Fase 2: Projeto Piloto</a:t>
            </a:r>
            <a:endParaRPr/>
          </a:p>
        </p:txBody>
      </p:sp>
      <p:sp>
        <p:nvSpPr>
          <p:cNvPr id="205" name="Google Shape;205;p22"/>
          <p:cNvSpPr txBox="1"/>
          <p:nvPr/>
        </p:nvSpPr>
        <p:spPr>
          <a:xfrm>
            <a:off x="4438650" y="3057525"/>
            <a:ext cx="33147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12 Meses: Instalação de 10-15 totens em área de risco para treinar a IA na Nuvem.</a:t>
            </a:r>
            <a:endParaRPr/>
          </a:p>
        </p:txBody>
      </p:sp>
      <p:sp>
        <p:nvSpPr>
          <p:cNvPr id="206" name="Google Shape;206;p22"/>
          <p:cNvSpPr txBox="1"/>
          <p:nvPr/>
        </p:nvSpPr>
        <p:spPr>
          <a:xfrm>
            <a:off x="8222932" y="4143375"/>
            <a:ext cx="3480435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BFFF"/>
                </a:solidFill>
                <a:latin typeface="Poppins"/>
                <a:ea typeface="Poppins"/>
                <a:cs typeface="Poppins"/>
                <a:sym typeface="Poppins"/>
              </a:rPr>
              <a:t>Fase 3: Rollout</a:t>
            </a:r>
            <a:endParaRPr/>
          </a:p>
        </p:txBody>
      </p:sp>
      <p:sp>
        <p:nvSpPr>
          <p:cNvPr id="207" name="Google Shape;207;p22"/>
          <p:cNvSpPr txBox="1"/>
          <p:nvPr/>
        </p:nvSpPr>
        <p:spPr>
          <a:xfrm>
            <a:off x="8305800" y="4629150"/>
            <a:ext cx="33147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Contínuo: Expansão para áreas prioritárias, guiada pelo "Mapa de Prioridade" do sistema.</a:t>
            </a:r>
            <a:endParaRPr/>
          </a:p>
        </p:txBody>
      </p:sp>
      <p:sp>
        <p:nvSpPr>
          <p:cNvPr id="208" name="Google Shape;208;p22"/>
          <p:cNvSpPr/>
          <p:nvPr/>
        </p:nvSpPr>
        <p:spPr>
          <a:xfrm>
            <a:off x="2133600" y="381000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38100" cap="flat" cmpd="sng">
            <a:solidFill>
              <a:srgbClr val="00B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22"/>
          <p:cNvSpPr/>
          <p:nvPr/>
        </p:nvSpPr>
        <p:spPr>
          <a:xfrm>
            <a:off x="6000750" y="381000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38100" cap="flat" cmpd="sng">
            <a:solidFill>
              <a:srgbClr val="00B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22"/>
          <p:cNvSpPr/>
          <p:nvPr/>
        </p:nvSpPr>
        <p:spPr>
          <a:xfrm>
            <a:off x="9867900" y="381000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38100" cap="flat" cmpd="sng">
            <a:solidFill>
              <a:srgbClr val="00B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2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BFFF"/>
                </a:solidFill>
                <a:latin typeface="Poppins"/>
                <a:ea typeface="Poppins"/>
                <a:cs typeface="Poppins"/>
                <a:sym typeface="Poppins"/>
              </a:rPr>
              <a:t>Plano de Implementação Faseado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6" name="Google Shape;216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7" name="Google Shape;217;p23"/>
          <p:cNvGraphicFramePr/>
          <p:nvPr>
            <p:extLst>
              <p:ext uri="{D42A27DB-BD31-4B8C-83A1-F6EECF244321}">
                <p14:modId xmlns:p14="http://schemas.microsoft.com/office/powerpoint/2010/main" val="3893191004"/>
              </p:ext>
            </p:extLst>
          </p:nvPr>
        </p:nvGraphicFramePr>
        <p:xfrm>
          <a:off x="571500" y="2676525"/>
          <a:ext cx="11049000" cy="2457425"/>
        </p:xfrm>
        <a:graphic>
          <a:graphicData uri="http://schemas.openxmlformats.org/drawingml/2006/table">
            <a:tbl>
              <a:tblPr firstRow="1" bandRow="1">
                <a:noFill/>
                <a:tableStyleId>{6A8C16FE-80AD-4E44-9C75-D836338930CB}</a:tableStyleId>
              </a:tblPr>
              <a:tblGrid>
                <a:gridCol w="2243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05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4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00B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Risco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err="1">
                          <a:solidFill>
                            <a:srgbClr val="00B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Mitigação</a:t>
                      </a:r>
                      <a:endParaRPr err="1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4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 err="1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Viés</a:t>
                      </a:r>
                      <a:r>
                        <a:rPr lang="en-US" sz="1350" b="1" i="0" u="none" strike="noStrike" cap="none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 de IA (Bias)</a:t>
                      </a:r>
                      <a:endParaRPr b="1">
                        <a:solidFill>
                          <a:schemeClr val="tx1"/>
                        </a:solidFill>
                        <a:latin typeface="Arial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Uso de dados </a:t>
                      </a:r>
                      <a:r>
                        <a:rPr lang="en-US" sz="1350" b="1" i="0" u="none" strike="noStrike" cap="none" err="1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ambientais</a:t>
                      </a:r>
                      <a:r>
                        <a:rPr lang="en-US" sz="1350" b="1" i="0" u="none" strike="noStrike" cap="none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 </a:t>
                      </a:r>
                      <a:r>
                        <a:rPr lang="en-US" sz="1350" b="1" i="0" u="none" strike="noStrike" cap="none" err="1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objetivos</a:t>
                      </a:r>
                      <a:r>
                        <a:rPr lang="en-US" sz="1350" b="1" i="0" u="none" strike="noStrike" cap="none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 (luz, </a:t>
                      </a:r>
                      <a:r>
                        <a:rPr lang="en-US" sz="1350" b="1" i="0" u="none" strike="noStrike" cap="none" err="1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ruído</a:t>
                      </a:r>
                      <a:r>
                        <a:rPr lang="en-US" sz="1350" b="1" i="0" u="none" strike="noStrike" cap="none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), </a:t>
                      </a:r>
                      <a:r>
                        <a:rPr lang="en-US" sz="1350" b="1" i="0" u="none" strike="noStrike" cap="none" err="1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não</a:t>
                      </a:r>
                      <a:r>
                        <a:rPr lang="en-US" sz="1350" b="1" i="0" u="none" strike="noStrike" cap="none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 </a:t>
                      </a:r>
                      <a:r>
                        <a:rPr lang="en-US" sz="1350" b="1" i="0" u="none" strike="noStrike" cap="none" err="1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apenas</a:t>
                      </a:r>
                      <a:r>
                        <a:rPr lang="en-US" sz="1350" b="1" i="0" u="none" strike="noStrike" cap="none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 </a:t>
                      </a:r>
                      <a:r>
                        <a:rPr lang="en-US" sz="1350" b="1" i="0" u="none" strike="noStrike" cap="none" err="1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patrulhamento</a:t>
                      </a:r>
                      <a:r>
                        <a:rPr lang="en-US" sz="1350" b="1" i="0" u="none" strike="noStrike" cap="none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 histórico.</a:t>
                      </a:r>
                      <a:endParaRPr b="1">
                        <a:solidFill>
                          <a:schemeClr val="tx1"/>
                        </a:solidFill>
                        <a:latin typeface="Arial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4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LGPD / </a:t>
                      </a:r>
                      <a:r>
                        <a:rPr lang="en-US" sz="1350" b="1" i="0" u="none" strike="noStrike" cap="none" err="1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Privacidade</a:t>
                      </a:r>
                      <a:endParaRPr b="1">
                        <a:solidFill>
                          <a:schemeClr val="tx1"/>
                        </a:solidFill>
                        <a:latin typeface="Arial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"Privacy-by-Design": IA </a:t>
                      </a:r>
                      <a:r>
                        <a:rPr lang="en-US" sz="1350" b="1" i="0" u="none" strike="noStrike" cap="none" err="1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na</a:t>
                      </a:r>
                      <a:r>
                        <a:rPr lang="en-US" sz="1350" b="1" i="0" u="none" strike="noStrike" cap="none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 Borda </a:t>
                      </a:r>
                      <a:r>
                        <a:rPr lang="en-US" sz="1350" b="1" i="0" u="none" strike="noStrike" cap="none" err="1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processa</a:t>
                      </a:r>
                      <a:r>
                        <a:rPr lang="en-US" sz="1350" b="1" i="0" u="none" strike="noStrike" cap="none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 </a:t>
                      </a:r>
                      <a:r>
                        <a:rPr lang="en-US" sz="1350" b="1" i="0" u="none" strike="noStrike" cap="none" err="1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vídeo</a:t>
                      </a:r>
                      <a:r>
                        <a:rPr lang="en-US" sz="1350" b="1" i="0" u="none" strike="noStrike" cap="none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 </a:t>
                      </a:r>
                      <a:r>
                        <a:rPr lang="en-US" sz="1350" b="1" i="0" u="none" strike="noStrike" cap="none" err="1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localmente</a:t>
                      </a:r>
                      <a:r>
                        <a:rPr lang="en-US" sz="1350" b="1" i="0" u="none" strike="noStrike" cap="none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, </a:t>
                      </a:r>
                      <a:r>
                        <a:rPr lang="en-US" sz="1350" b="1" i="0" u="none" strike="noStrike" cap="none" err="1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envia</a:t>
                      </a:r>
                      <a:r>
                        <a:rPr lang="en-US" sz="1350" b="1" i="0" u="none" strike="noStrike" cap="none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 </a:t>
                      </a:r>
                      <a:r>
                        <a:rPr lang="en-US" sz="1350" b="1" i="0" u="none" strike="noStrike" cap="none" err="1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apenas</a:t>
                      </a:r>
                      <a:r>
                        <a:rPr lang="en-US" sz="1350" b="1" i="0" u="none" strike="noStrike" cap="none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 </a:t>
                      </a:r>
                      <a:r>
                        <a:rPr lang="en-US" sz="1350" b="1" i="0" u="none" strike="noStrike" cap="none" err="1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metadados</a:t>
                      </a:r>
                      <a:r>
                        <a:rPr lang="en-US" sz="1350" b="1" i="0" u="none" strike="noStrike" cap="none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.</a:t>
                      </a:r>
                      <a:endParaRPr b="1">
                        <a:solidFill>
                          <a:schemeClr val="tx1"/>
                        </a:solidFill>
                        <a:latin typeface="Arial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4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 err="1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Manutenção</a:t>
                      </a:r>
                      <a:endParaRPr b="1">
                        <a:solidFill>
                          <a:schemeClr val="tx1"/>
                        </a:solidFill>
                        <a:latin typeface="Arial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Totem com </a:t>
                      </a:r>
                      <a:r>
                        <a:rPr lang="en-US" sz="1350" b="1" i="0" u="none" strike="noStrike" cap="none" err="1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autodiagnóstico</a:t>
                      </a:r>
                      <a:r>
                        <a:rPr lang="en-US" sz="1350" b="1" i="0" u="none" strike="noStrike" cap="none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; </a:t>
                      </a:r>
                      <a:r>
                        <a:rPr lang="en-US" sz="1350" b="1" i="0" u="none" strike="noStrike" cap="none" err="1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abre</a:t>
                      </a:r>
                      <a:r>
                        <a:rPr lang="en-US" sz="1350" b="1" i="0" u="none" strike="noStrike" cap="none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 </a:t>
                      </a:r>
                      <a:r>
                        <a:rPr lang="en-US" sz="1350" b="1" i="0" u="none" strike="noStrike" cap="none" err="1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chamado</a:t>
                      </a:r>
                      <a:r>
                        <a:rPr lang="en-US" sz="1350" b="1" i="0" u="none" strike="noStrike" cap="none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 de </a:t>
                      </a:r>
                      <a:r>
                        <a:rPr lang="en-US" sz="1350" b="1" i="0" u="none" strike="noStrike" cap="none" err="1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manutenção</a:t>
                      </a:r>
                      <a:r>
                        <a:rPr lang="en-US" sz="1350" b="1" i="0" u="none" strike="noStrike" cap="none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 </a:t>
                      </a:r>
                      <a:r>
                        <a:rPr lang="en-US" sz="1350" b="1" i="0" u="none" strike="noStrike" cap="none" err="1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automático</a:t>
                      </a:r>
                      <a:r>
                        <a:rPr lang="en-US" sz="1350" b="1" i="0" u="none" strike="noStrike" cap="none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 se a </a:t>
                      </a:r>
                      <a:r>
                        <a:rPr lang="en-US" sz="1350" b="1" i="0" u="none" strike="noStrike" cap="none" err="1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visão</a:t>
                      </a:r>
                      <a:r>
                        <a:rPr lang="en-US" sz="1350" b="1" i="0" u="none" strike="noStrike" cap="none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 for </a:t>
                      </a:r>
                      <a:r>
                        <a:rPr lang="en-US" sz="1350" b="1" i="0" u="none" strike="noStrike" cap="none" err="1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obstruída</a:t>
                      </a:r>
                      <a:r>
                        <a:rPr lang="en-US" sz="1350" b="1" i="0" u="none" strike="noStrike" cap="none">
                          <a:solidFill>
                            <a:schemeClr val="tx1"/>
                          </a:solidFill>
                          <a:latin typeface="Arial"/>
                          <a:ea typeface="Lato"/>
                          <a:cs typeface="Lato"/>
                          <a:sym typeface="Lato"/>
                        </a:rPr>
                        <a:t>.</a:t>
                      </a:r>
                      <a:endParaRPr b="1">
                        <a:solidFill>
                          <a:schemeClr val="tx1"/>
                        </a:solidFill>
                        <a:latin typeface="Arial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8" name="Google Shape;218;p23"/>
          <p:cNvSpPr/>
          <p:nvPr/>
        </p:nvSpPr>
        <p:spPr>
          <a:xfrm>
            <a:off x="571500" y="3300412"/>
            <a:ext cx="2243583" cy="9525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3"/>
          <p:cNvSpPr/>
          <p:nvPr/>
        </p:nvSpPr>
        <p:spPr>
          <a:xfrm>
            <a:off x="2815083" y="3300412"/>
            <a:ext cx="8805416" cy="9525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3"/>
          <p:cNvSpPr/>
          <p:nvPr/>
        </p:nvSpPr>
        <p:spPr>
          <a:xfrm>
            <a:off x="571500" y="3910012"/>
            <a:ext cx="2243583" cy="9525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3"/>
          <p:cNvSpPr/>
          <p:nvPr/>
        </p:nvSpPr>
        <p:spPr>
          <a:xfrm>
            <a:off x="2815083" y="3910012"/>
            <a:ext cx="8805416" cy="9525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3"/>
          <p:cNvSpPr/>
          <p:nvPr/>
        </p:nvSpPr>
        <p:spPr>
          <a:xfrm>
            <a:off x="571500" y="4519612"/>
            <a:ext cx="2243583" cy="9525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23"/>
          <p:cNvSpPr/>
          <p:nvPr/>
        </p:nvSpPr>
        <p:spPr>
          <a:xfrm>
            <a:off x="2815083" y="4519612"/>
            <a:ext cx="8805416" cy="9525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3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BFFF"/>
                </a:solidFill>
                <a:latin typeface="Poppins"/>
                <a:ea typeface="Poppins"/>
                <a:cs typeface="Poppins"/>
                <a:sym typeface="Poppins"/>
              </a:rPr>
              <a:t>Análise Crítica: Mitigando Riscos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4"/>
          <p:cNvSpPr txBox="1"/>
          <p:nvPr/>
        </p:nvSpPr>
        <p:spPr>
          <a:xfrm>
            <a:off x="295275" y="2262187"/>
            <a:ext cx="1160145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Visão e Conclusão</a:t>
            </a:r>
            <a:endParaRPr/>
          </a:p>
        </p:txBody>
      </p:sp>
      <p:sp>
        <p:nvSpPr>
          <p:cNvPr id="231" name="Google Shape;231;p24"/>
          <p:cNvSpPr txBox="1"/>
          <p:nvPr/>
        </p:nvSpPr>
        <p:spPr>
          <a:xfrm>
            <a:off x="571500" y="3328987"/>
            <a:ext cx="1104900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Uma cidade mais saudável, conectada e integrada é, essencialmente,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50" b="0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  <a:sym typeface="Lato"/>
              </a:rPr>
              <a:t> uma cidade mais segura e resiliente.</a:t>
            </a:r>
            <a:endParaRPr/>
          </a:p>
        </p:txBody>
      </p:sp>
      <p:sp>
        <p:nvSpPr>
          <p:cNvPr id="232" name="Google Shape;232;p24"/>
          <p:cNvSpPr txBox="1"/>
          <p:nvPr/>
        </p:nvSpPr>
        <p:spPr>
          <a:xfrm>
            <a:off x="571500" y="4338637"/>
            <a:ext cx="110490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B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S.I.V.I.A.: Da Gestão Reativa à Resiliência Preditiva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782</Words>
  <Application>Microsoft Office PowerPoint</Application>
  <PresentationFormat>Widescreen</PresentationFormat>
  <Paragraphs>77</Paragraphs>
  <Slides>14</Slides>
  <Notes>14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20" baseType="lpstr">
      <vt:lpstr>Calibri</vt:lpstr>
      <vt:lpstr>Arial</vt:lpstr>
      <vt:lpstr>Lato</vt:lpstr>
      <vt:lpstr>Poppins</vt:lpstr>
      <vt:lpstr>Times New Roman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Lucas Santiago</cp:lastModifiedBy>
  <cp:revision>90</cp:revision>
  <dcterms:modified xsi:type="dcterms:W3CDTF">2025-11-25T23:40:02Z</dcterms:modified>
</cp:coreProperties>
</file>