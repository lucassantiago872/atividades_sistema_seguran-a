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0303F-E8A9-87A9-325A-4168E674BDB2}" v="149" dt="2025-11-25T22:29:22.276"/>
    <p1510:client id="{EE4588BD-1B14-400F-EE06-44BD92F6691E}" v="2" dt="2025-11-25T22:35:08.961"/>
    <p1510:client id="{FE00E2BA-B208-9ADA-0300-6A42CD83B48E}" v="254" dt="2025-11-25T23:01:50.905"/>
  </p1510:revLst>
</p1510:revInfo>
</file>

<file path=ppt/tableStyles.xml><?xml version="1.0" encoding="utf-8"?>
<a:tblStyleLst xmlns:a="http://schemas.openxmlformats.org/drawingml/2006/main" def="{6A8C16FE-80AD-4E44-9C75-D836338930CB}">
  <a:tblStyle styleId="{6A8C16FE-80AD-4E44-9C75-D836338930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11EE0CAA-A3D6-8811-97C3-63A7FB33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>
            <a:extLst>
              <a:ext uri="{FF2B5EF4-FFF2-40B4-BE49-F238E27FC236}">
                <a16:creationId xmlns:a16="http://schemas.microsoft.com/office/drawing/2014/main" id="{3D15FAEB-7F13-3AEA-C8B1-583C7EFBDC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:notes">
            <a:extLst>
              <a:ext uri="{FF2B5EF4-FFF2-40B4-BE49-F238E27FC236}">
                <a16:creationId xmlns:a16="http://schemas.microsoft.com/office/drawing/2014/main" id="{DB684DB6-161D-B79C-1763-67E75EFA7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5212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EC54AE9-0502-CE40-0254-D4C860E08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CB9E165-4524-F404-264B-AD3C83851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67FF5D1-3BA5-589C-2080-DC6F8F5D24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7686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390775"/>
            <a:ext cx="11601450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00B9F7"/>
                </a:solidFill>
                <a:latin typeface="Poppins"/>
                <a:ea typeface="Poppins"/>
                <a:cs typeface="Poppins"/>
                <a:sym typeface="Poppins"/>
              </a:rPr>
              <a:t>S.I.V.I.A.</a:t>
            </a:r>
            <a:endParaRPr lang="pt-BR" dirty="0">
              <a:solidFill>
                <a:srgbClr val="00B9F7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495675" y="3590925"/>
            <a:ext cx="520065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Sistema </a:t>
            </a:r>
            <a:r>
              <a:rPr lang="en-US" sz="1800" b="0" i="0" u="none" strike="noStrike" cap="none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Integrado</a:t>
            </a: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Vigilância</a:t>
            </a: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Inteligência</a:t>
            </a: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800" b="0" i="0" u="none" strike="noStrike" cap="none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Alerta</a:t>
            </a:r>
            <a:br>
              <a:rPr lang="en-US" sz="1800" b="0" i="0" u="none" strike="noStrike" cap="none">
                <a:latin typeface="Calibri"/>
                <a:ea typeface="Calibri"/>
                <a:cs typeface="Calibri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lang="en-US" sz="180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8013AF1-CE53-9F8E-A345-0DB0BFBC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4" descr="image.png">
            <a:extLst>
              <a:ext uri="{FF2B5EF4-FFF2-40B4-BE49-F238E27FC236}">
                <a16:creationId xmlns:a16="http://schemas.microsoft.com/office/drawing/2014/main" id="{C82D444F-5F94-2A80-4D7D-0F7E55B794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>
            <a:extLst>
              <a:ext uri="{FF2B5EF4-FFF2-40B4-BE49-F238E27FC236}">
                <a16:creationId xmlns:a16="http://schemas.microsoft.com/office/drawing/2014/main" id="{0BAE120B-ACC6-17BA-4180-47E30E5CF3DC}"/>
              </a:ext>
            </a:extLst>
          </p:cNvPr>
          <p:cNvSpPr txBox="1"/>
          <p:nvPr/>
        </p:nvSpPr>
        <p:spPr>
          <a:xfrm>
            <a:off x="295275" y="2262187"/>
            <a:ext cx="11601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 err="1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Membros</a:t>
            </a:r>
            <a:r>
              <a:rPr lang="en-US" sz="4500" b="1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 do </a:t>
            </a:r>
            <a:r>
              <a:rPr lang="en-US" sz="4500" b="1" err="1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grupo</a:t>
            </a:r>
            <a:r>
              <a:rPr lang="en-US" sz="4500" b="1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:</a:t>
            </a:r>
            <a:endParaRPr lang="en-US" sz="45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231" name="Google Shape;231;p24">
            <a:extLst>
              <a:ext uri="{FF2B5EF4-FFF2-40B4-BE49-F238E27FC236}">
                <a16:creationId xmlns:a16="http://schemas.microsoft.com/office/drawing/2014/main" id="{56500E5D-AC7D-26EF-99DF-3E86050362AC}"/>
              </a:ext>
            </a:extLst>
          </p:cNvPr>
          <p:cNvSpPr txBox="1"/>
          <p:nvPr/>
        </p:nvSpPr>
        <p:spPr>
          <a:xfrm>
            <a:off x="571500" y="3328987"/>
            <a:ext cx="11049000" cy="105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7500"/>
              </a:lnSpc>
            </a:pPr>
            <a:r>
              <a:rPr lang="en-US" sz="1650">
                <a:solidFill>
                  <a:srgbClr val="E0E0E0"/>
                </a:solidFill>
                <a:latin typeface="Lato"/>
                <a:ea typeface="Lato"/>
                <a:cs typeface="Lato"/>
              </a:rPr>
              <a:t>Gustavo Henrique Marcel da Silva</a:t>
            </a:r>
          </a:p>
          <a:p>
            <a:pPr algn="ctr">
              <a:lnSpc>
                <a:spcPct val="137500"/>
              </a:lnSpc>
            </a:pPr>
            <a:r>
              <a:rPr lang="en-US" sz="1650">
                <a:solidFill>
                  <a:schemeClr val="bg1"/>
                </a:solidFill>
                <a:latin typeface="Lato"/>
                <a:ea typeface="Lato"/>
              </a:rPr>
              <a:t>Lucas Augusto Santiago da Cruz</a:t>
            </a:r>
            <a:br>
              <a:rPr lang="en-US" sz="1650">
                <a:solidFill>
                  <a:srgbClr val="E0E0E0"/>
                </a:solidFill>
                <a:latin typeface="Lato"/>
                <a:ea typeface="Lato"/>
                <a:cs typeface="Lato"/>
              </a:rPr>
            </a:br>
            <a:r>
              <a:rPr lang="en-US" sz="1650">
                <a:solidFill>
                  <a:srgbClr val="E0E0E0"/>
                </a:solidFill>
                <a:latin typeface="Lato"/>
                <a:ea typeface="Lato"/>
                <a:cs typeface="Lato"/>
              </a:rPr>
              <a:t>Pedro Henrique Garcia </a:t>
            </a:r>
            <a:r>
              <a:rPr lang="en-US" sz="1650" err="1">
                <a:solidFill>
                  <a:srgbClr val="E0E0E0"/>
                </a:solidFill>
                <a:latin typeface="Lato"/>
                <a:ea typeface="Lato"/>
                <a:cs typeface="Lato"/>
              </a:rPr>
              <a:t>Bronzeri</a:t>
            </a:r>
            <a:endParaRPr lang="en-US" sz="1650">
              <a:solidFill>
                <a:srgbClr val="E0E0E0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99565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B7FEAD68-BE52-965F-2C4A-B19268111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>
            <a:extLst>
              <a:ext uri="{FF2B5EF4-FFF2-40B4-BE49-F238E27FC236}">
                <a16:creationId xmlns:a16="http://schemas.microsoft.com/office/drawing/2014/main" id="{706C7265-3661-5DDB-86A2-E4D8174AA4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89F8712C-586B-C370-72B7-0074E79381C1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b="1" dirty="0">
                <a:solidFill>
                  <a:srgbClr val="00BFFF"/>
                </a:solidFill>
                <a:latin typeface="Poppins"/>
                <a:cs typeface="Poppins"/>
              </a:rPr>
              <a:t>S.I.V.I.A</a:t>
            </a:r>
            <a:endParaRPr lang="en-US" sz="3000" b="1" dirty="0">
              <a:solidFill>
                <a:srgbClr val="00B9F7"/>
              </a:solidFill>
              <a:latin typeface="Poppins"/>
              <a:cs typeface="Poppins"/>
            </a:endParaRPr>
          </a:p>
        </p:txBody>
      </p:sp>
      <p:pic>
        <p:nvPicPr>
          <p:cNvPr id="2" name="Imagem 1" descr="Placa de sinalização em poste na rua&#10;&#10;O conteúdo gerado por IA pode estar incorreto.">
            <a:extLst>
              <a:ext uri="{FF2B5EF4-FFF2-40B4-BE49-F238E27FC236}">
                <a16:creationId xmlns:a16="http://schemas.microsoft.com/office/drawing/2014/main" id="{5DE5A969-0382-D878-EEE6-CBBC3ECD3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6383" y="0"/>
            <a:ext cx="4605616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C87CDE1-3815-B95F-67F3-CA73C9190CC9}"/>
              </a:ext>
            </a:extLst>
          </p:cNvPr>
          <p:cNvSpPr txBox="1"/>
          <p:nvPr/>
        </p:nvSpPr>
        <p:spPr>
          <a:xfrm>
            <a:off x="585305" y="1397001"/>
            <a:ext cx="8558695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800" dirty="0">
                <a:solidFill>
                  <a:srgbClr val="E0E0E0"/>
                </a:solidFill>
                <a:latin typeface="Lato"/>
                <a:ea typeface="Lato"/>
                <a:cs typeface="Lato"/>
              </a:rPr>
              <a:t>De </a:t>
            </a:r>
            <a:r>
              <a:rPr lang="en-US" sz="1800" err="1">
                <a:solidFill>
                  <a:srgbClr val="E0E0E0"/>
                </a:solidFill>
                <a:latin typeface="Lato"/>
                <a:ea typeface="Lato"/>
                <a:cs typeface="Lato"/>
              </a:rPr>
              <a:t>cidadades</a:t>
            </a:r>
            <a:r>
              <a:rPr lang="en-US" sz="1800" dirty="0">
                <a:solidFill>
                  <a:srgbClr val="E0E0E0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err="1">
                <a:solidFill>
                  <a:srgbClr val="E0E0E0"/>
                </a:solidFill>
                <a:latin typeface="Lato"/>
                <a:ea typeface="Lato"/>
                <a:cs typeface="Lato"/>
              </a:rPr>
              <a:t>reativas</a:t>
            </a:r>
            <a:r>
              <a:rPr lang="en-US" sz="1800" dirty="0">
                <a:solidFill>
                  <a:srgbClr val="E0E0E0"/>
                </a:solidFill>
                <a:latin typeface="Lato"/>
                <a:ea typeface="Lato"/>
                <a:cs typeface="Lato"/>
              </a:rPr>
              <a:t> para </a:t>
            </a:r>
            <a:r>
              <a:rPr lang="en-US" sz="1800" err="1">
                <a:solidFill>
                  <a:srgbClr val="E0E0E0"/>
                </a:solidFill>
                <a:latin typeface="Lato"/>
                <a:ea typeface="Lato"/>
                <a:cs typeface="Lato"/>
              </a:rPr>
              <a:t>preditivas</a:t>
            </a:r>
            <a:endParaRPr lang="en-US" sz="1800">
              <a:solidFill>
                <a:srgbClr val="E0E0E0"/>
              </a:solidFill>
              <a:latin typeface="Lato"/>
              <a:ea typeface="Lato"/>
              <a:cs typeface="Lato"/>
            </a:endParaRPr>
          </a:p>
          <a:p>
            <a:pPr marL="285750" indent="-285750">
              <a:buChar char="•"/>
            </a:pPr>
            <a:endParaRPr lang="en-US" sz="1800" dirty="0">
              <a:solidFill>
                <a:srgbClr val="E0E0E0"/>
              </a:solidFill>
              <a:latin typeface="Lato"/>
              <a:ea typeface="Lato"/>
              <a:cs typeface="Lato"/>
            </a:endParaRPr>
          </a:p>
          <a:p>
            <a:pPr marL="285750" indent="-285750">
              <a:buChar char="•"/>
            </a:pPr>
            <a:endParaRPr lang="en-US" sz="1800" dirty="0">
              <a:solidFill>
                <a:srgbClr val="E0E0E0"/>
              </a:solidFill>
              <a:latin typeface="Lato"/>
              <a:ea typeface="Lato"/>
              <a:cs typeface="Lato"/>
            </a:endParaRPr>
          </a:p>
          <a:p>
            <a:pPr algn="ctr"/>
            <a:endParaRPr lang="pt-BR"/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11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7500"/>
            <a:ext cx="5286375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57500"/>
            <a:ext cx="528637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49391" y="32480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Silo 1: Segurança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87667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Foco em vigilância e reação (ex: Detecta). Ignora o contexto ambiental. Atua </a:t>
            </a:r>
            <a:r>
              <a:rPr lang="en-US" sz="1350" b="1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após</a:t>
            </a: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o crime ocorrer.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12016" y="32480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Silo 2: Ambiental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387667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Foco em coleta de dados (ex: Array of Things). É passivo. Não usa dados para alertas em tempo real.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O Problema Central: A Gestão em "Silos"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2190750" y="2976562"/>
            <a:ext cx="81915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 b="1" i="0" u="none" strike="noStrike" cap="none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Custo</a:t>
            </a:r>
            <a:r>
              <a:rPr lang="en-US" sz="13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Duplicado</a:t>
            </a:r>
            <a:r>
              <a:rPr lang="en-US" sz="13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cidade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paga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3x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pelo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mesmo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ativo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(poste,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energia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dados) para 3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secretarias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diferentes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pt-BR">
              <a:ea typeface="Lato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190750" y="342423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Pontos Cegos: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Perda de potencial preditivo. Não correlacionamos falhas de luz com assaltos, ou alagamentos com furtos.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2190750" y="412908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Gestão Reativa: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Tratamos cada evento como independente, perdendo a chance de prever, prevenir e agir de forma proativa.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0241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4718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17671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A Consequência: Custo Duplicado e Pontos Cegos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Quebrando a Barreira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262890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Propomos o S.I.V.I.A., um Hub de Resiliência Urbana.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305752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 inovação é a </a:t>
            </a:r>
            <a:r>
              <a:rPr lang="en-US" sz="1350" b="1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arquitetura de integração</a:t>
            </a: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 um único totem IoT multifuncional que atende a múltiplas secretarias (Segurança, Defesa Civil, Obras) simultaneamente.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A Solução: S.I.V.I.A.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9362"/>
            <a:ext cx="34290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519362"/>
            <a:ext cx="34290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519362"/>
            <a:ext cx="34290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1165860" y="3529012"/>
            <a:ext cx="224028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Segurança Tática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66775" y="4157662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Câmeras 4K (IA na Borda) e Microfones direcionais (análise acústica de disparos, gritos).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785836" y="3529012"/>
            <a:ext cx="262032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Sensores Ambientais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676775" y="4157662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Qualidade do ar, poluição sonora, nível de alagamento e falhas na iluminação pública.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495823" y="3529012"/>
            <a:ext cx="282035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Interação e Resiliência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486775" y="4157662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Botão de Pânico com triagem de IA, estrutura antivandalismo (IP67) e UPS autônoma.</a:t>
            </a:r>
            <a:endParaRPr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8825" y="28336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8336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5975" y="283368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O Hardware: O "Sentinela" Urbano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6" y="1002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A Inteligência (Parte 1): IA na Borda</a:t>
            </a:r>
            <a:endParaRPr/>
          </a:p>
        </p:txBody>
      </p:sp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20955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"Especialista Rápido"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286702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 primeira camada de IA opera dentro do próprio totem.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7250" y="34451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52500" y="3446115"/>
            <a:ext cx="4905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350" b="1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Velocidade</a:t>
            </a:r>
            <a:r>
              <a:rPr lang="en-US" sz="1350" b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Resposta tática em milissegundos (ex: detecção de tiro).</a:t>
            </a:r>
            <a:endParaRPr lang="pt-BR">
              <a:ea typeface="Lato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857250" y="41461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52500" y="4147095"/>
            <a:ext cx="4905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350" b="1" i="0" u="none" strike="noStrike" cap="none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Privacidade</a:t>
            </a:r>
            <a:r>
              <a:rPr lang="en-US" sz="1350" b="1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(LGPD</a:t>
            </a:r>
            <a:r>
              <a:rPr lang="en-US" sz="1350" b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Vídeo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processado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localmente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Apenas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metadados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({"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evento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": "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briga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"})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são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enviados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pt-BR">
              <a:ea typeface="Lato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857250" y="4847123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350">
              <a:solidFill>
                <a:srgbClr val="E0E0E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952500" y="4848076"/>
            <a:ext cx="4905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350" b="1" i="0" u="none" strike="noStrike" cap="none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Eficiência</a:t>
            </a:r>
            <a:r>
              <a:rPr lang="en-US" sz="1350" b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Reduz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drasticamente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custo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transmissão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dados.</a:t>
            </a:r>
            <a:endParaRPr lang="pt-BR">
              <a:ea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7500"/>
            <a:ext cx="5286375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57500"/>
            <a:ext cx="528637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849391" y="32480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O "Estrategista Holístico"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62025" y="387667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Recebe metadados leves de milhares de totens para correlacionar informações e encontrar padrões ocultos.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612016" y="32480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Cérebro Tático (Real-Time)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724650" y="387667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Triangulação de alertas, rastreamento (handoff) de suspeitos, e despacho automatizado (ex: abre chamado em Obras).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A Inteligência (Parte 2): IA na Nuvem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2057400" y="2353865"/>
            <a:ext cx="8077200" cy="2559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(Lâmpada Queimada) + (Rua Vazia) → +30% Risco de Assalto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(Alagamento) + (Trânsito Parado) → +90% Risco de Furto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3233737" y="5199459"/>
            <a:ext cx="57245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BFFF"/>
                </a:solidFill>
                <a:latin typeface="Lato"/>
                <a:ea typeface="Lato"/>
                <a:cs typeface="Lato"/>
                <a:sym typeface="Lato"/>
              </a:rPr>
              <a:t>— O "Waze" da Polícia: Atuação preventiva, não apenas reativa.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581150" y="2639615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0334625" y="4818459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O Poder Preditivo: O "Mapa de Risco"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835818" y="3643312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Viabilidade Econômica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866775" y="4271962"/>
            <a:ext cx="2838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0" i="0" u="none" strike="noStrike" cap="none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Custo</a:t>
            </a: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diluído</a:t>
            </a: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200" b="0" i="0" u="none" strike="noStrike" cap="none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Troca</a:t>
            </a: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3 </a:t>
            </a:r>
            <a:r>
              <a:rPr lang="en-US" sz="1200" b="0" i="0" u="none" strike="noStrike" cap="none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sistemas</a:t>
            </a: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r>
              <a:rPr lang="en-US" sz="120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menos</a:t>
            </a:r>
            <a:r>
              <a:rPr lang="en-US"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inteligentes</a:t>
            </a:r>
            <a:r>
              <a:rPr lang="en-US"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1 </a:t>
            </a:r>
            <a:r>
              <a:rPr lang="en-US" sz="1200" b="0" i="0" u="none" strike="noStrike" cap="none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inteligente</a:t>
            </a: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200" b="0" i="0" u="none" strike="noStrike" cap="none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integrado</a:t>
            </a: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4685823" y="3643312"/>
            <a:ext cx="282035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Eficiência Operacional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676775" y="4271962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Evolui a gestão da cidade de um modelo Reativo para um modelo Preditivo.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8825865" y="3643312"/>
            <a:ext cx="21602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Resiliência Social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8486775" y="4271962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Ponto de emergência confiável (Botão de Pânico com IA) e melhor gestão de riscos.</a:t>
            </a:r>
            <a:endParaRPr/>
          </a:p>
        </p:txBody>
      </p:sp>
      <p:pic>
        <p:nvPicPr>
          <p:cNvPr id="192" name="Google Shape;19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8825" y="29479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9479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9479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Proposta de Valor: O "Porquê" do S.I.V.I.A.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488632" y="4143375"/>
            <a:ext cx="34804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Fase 1: Protótipo (MVP)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4629150"/>
            <a:ext cx="3314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6 Meses: Construção e validação de 1 totem funcional (hardware, energia, conexão).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4355782" y="2571750"/>
            <a:ext cx="34804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Fase 2: Projeto Piloto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4438650" y="3057525"/>
            <a:ext cx="3314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12 Meses: Instalação de 10-15 totens em área de risco para treinar a IA na Nuvem.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8222932" y="4143375"/>
            <a:ext cx="34804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Fase 3: Rollout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8305800" y="4629150"/>
            <a:ext cx="3314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Contínuo: Expansão para áreas prioritárias, guiada pelo "Mapa de Prioridade" do sistema.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213360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381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600075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381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986790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381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Plano de Implementação Faseado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" name="Google Shape;217;p23"/>
          <p:cNvGraphicFramePr/>
          <p:nvPr>
            <p:extLst>
              <p:ext uri="{D42A27DB-BD31-4B8C-83A1-F6EECF244321}">
                <p14:modId xmlns:p14="http://schemas.microsoft.com/office/powerpoint/2010/main" val="3893191004"/>
              </p:ext>
            </p:extLst>
          </p:nvPr>
        </p:nvGraphicFramePr>
        <p:xfrm>
          <a:off x="571500" y="2676525"/>
          <a:ext cx="11049000" cy="2457425"/>
        </p:xfrm>
        <a:graphic>
          <a:graphicData uri="http://schemas.openxmlformats.org/drawingml/2006/table">
            <a:tbl>
              <a:tblPr firstRow="1" bandRow="1">
                <a:noFill/>
                <a:tableStyleId>{6A8C16FE-80AD-4E44-9C75-D836338930CB}</a:tableStyleId>
              </a:tblPr>
              <a:tblGrid>
                <a:gridCol w="224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B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Risco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err="1">
                          <a:solidFill>
                            <a:srgbClr val="00B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Mitigação</a:t>
                      </a:r>
                      <a:endParaRPr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Viés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de IA (Bias)</a:t>
                      </a:r>
                      <a:endParaRPr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Uso de dados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ambientais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objetivos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(luz,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ruído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),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não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apenas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patrulhamento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histórico.</a:t>
                      </a:r>
                      <a:endParaRPr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LGPD /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Privacidade</a:t>
                      </a:r>
                      <a:endParaRPr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"Privacy-by-Design": IA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na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Borda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processa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vídeo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localmente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,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envia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apenas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metadados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Manutenção</a:t>
                      </a:r>
                      <a:endParaRPr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Totem com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autodiagnóstico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;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abre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chamado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de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manutenção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automático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se a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visão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 for </a:t>
                      </a:r>
                      <a:r>
                        <a:rPr lang="en-US" sz="1350" b="1" i="0" u="none" strike="noStrike" cap="none" err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obstruída</a:t>
                      </a: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8" name="Google Shape;218;p23"/>
          <p:cNvSpPr/>
          <p:nvPr/>
        </p:nvSpPr>
        <p:spPr>
          <a:xfrm>
            <a:off x="571500" y="3300412"/>
            <a:ext cx="2243583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2815083" y="3300412"/>
            <a:ext cx="8805416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571500" y="3910012"/>
            <a:ext cx="2243583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2815083" y="3910012"/>
            <a:ext cx="8805416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71500" y="4519612"/>
            <a:ext cx="2243583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2815083" y="4519612"/>
            <a:ext cx="8805416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Análise Crítica: Mitigando Riscos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295275" y="2262187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Visão e Conclusão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571500" y="3328987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Uma cidade mais saudável, conectada e integrada é, essencialmente,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uma cidade mais segura e resiliente.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71500" y="433863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S.I.V.I.A.: Da Gestão Reativa à Resiliência Preditiva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89</cp:revision>
  <dcterms:modified xsi:type="dcterms:W3CDTF">2025-11-25T23:02:28Z</dcterms:modified>
</cp:coreProperties>
</file>